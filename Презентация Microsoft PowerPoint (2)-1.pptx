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1" r:id="rId6"/>
    <p:sldId id="260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451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691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585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96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10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106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23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895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64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11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924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386EAA-A685-49BA-9FFD-86E5D841C1AF}" type="datetimeFigureOut">
              <a:rPr lang="ru-RU" smtClean="0"/>
              <a:t>03.06.2026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DD996-A6E8-4A0F-A0C4-A9C11F88B5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64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0">
              <a:schemeClr val="tx1"/>
            </a:gs>
            <a:gs pos="39000">
              <a:srgbClr val="7030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1400" y="205250"/>
            <a:ext cx="10782300" cy="2387600"/>
          </a:xfrm>
          <a:noFill/>
          <a:effectLst>
            <a:outerShdw blurRad="50800" dist="50800" dir="5400000" algn="ctr" rotWithShape="0">
              <a:srgbClr val="000000"/>
            </a:outerShdw>
          </a:effectLst>
        </p:spPr>
        <p:txBody>
          <a:bodyPr>
            <a:normAutofit/>
          </a:bodyPr>
          <a:lstStyle/>
          <a:p>
            <a:r>
              <a:rPr lang="ru-RU" sz="4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ru-RU" sz="480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ru-RU" sz="4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веб-приложение для управления задачами и командой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2000" y="2592850"/>
            <a:ext cx="10610850" cy="1246189"/>
          </a:xfrm>
          <a:noFill/>
        </p:spPr>
        <p:txBody>
          <a:bodyPr>
            <a:normAutofit/>
          </a:bodyPr>
          <a:lstStyle/>
          <a:p>
            <a:r>
              <a:rPr lang="ru-RU" sz="4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Laravel-приложение для задач, ролей и фильтрации в одном интерфейсе.</a:t>
            </a:r>
          </a:p>
          <a:p>
            <a:endParaRPr lang="ru-RU" sz="4000" dirty="0"/>
          </a:p>
        </p:txBody>
      </p:sp>
      <p:sp>
        <p:nvSpPr>
          <p:cNvPr id="6" name="Равнобедренный треугольник 5"/>
          <p:cNvSpPr/>
          <p:nvPr/>
        </p:nvSpPr>
        <p:spPr>
          <a:xfrm rot="13142368">
            <a:off x="-1230081" y="5596992"/>
            <a:ext cx="3374561" cy="2522016"/>
          </a:xfrm>
          <a:prstGeom prst="triangle">
            <a:avLst/>
          </a:prstGeom>
          <a:ln/>
          <a:effectLst>
            <a:glow rad="317500">
              <a:schemeClr val="bg1"/>
            </a:glow>
            <a:outerShdw blurRad="177800" dist="50800" dir="8400000" sx="200000" sy="200000" algn="ctr" rotWithShape="0">
              <a:srgbClr val="000000">
                <a:alpha val="43137"/>
              </a:srgbClr>
            </a:outerShdw>
            <a:reflection endPos="0" dir="5400000" sy="-100000" algn="bl" rotWithShape="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авнобедренный треугольник 6"/>
          <p:cNvSpPr/>
          <p:nvPr/>
        </p:nvSpPr>
        <p:spPr>
          <a:xfrm rot="15834520">
            <a:off x="5812952" y="2882607"/>
            <a:ext cx="6477948" cy="7950785"/>
          </a:xfrm>
          <a:prstGeom prst="triangle">
            <a:avLst/>
          </a:prstGeom>
          <a:ln/>
          <a:effectLst>
            <a:glow rad="317500">
              <a:schemeClr val="bg1"/>
            </a:glow>
            <a:outerShdw blurRad="177800" dist="50800" dir="8400000" sx="200000" sy="200000" algn="ctr" rotWithShape="0">
              <a:srgbClr val="000000">
                <a:alpha val="43137"/>
              </a:srgbClr>
            </a:outerShdw>
            <a:reflection endPos="0" dir="5400000" sy="-100000" algn="bl" rotWithShape="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15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39000">
              <a:srgbClr val="7030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авнобедренный треугольник 6"/>
          <p:cNvSpPr/>
          <p:nvPr/>
        </p:nvSpPr>
        <p:spPr>
          <a:xfrm rot="15767619">
            <a:off x="6472711" y="2546554"/>
            <a:ext cx="6477948" cy="7950785"/>
          </a:xfrm>
          <a:prstGeom prst="triangle">
            <a:avLst/>
          </a:prstGeom>
          <a:ln/>
          <a:effectLst>
            <a:glow rad="317500">
              <a:schemeClr val="bg1"/>
            </a:glow>
            <a:outerShdw blurRad="177800" dist="50800" dir="8400000" sx="200000" sy="200000" algn="ctr" rotWithShape="0">
              <a:srgbClr val="000000">
                <a:alpha val="43137"/>
              </a:srgbClr>
            </a:outerShdw>
            <a:reflection endPos="0" dir="5400000" sy="-100000" algn="bl" rotWithShape="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62000" y="422273"/>
            <a:ext cx="10782300" cy="2387600"/>
          </a:xfrm>
          <a:noFill/>
          <a:effectLst>
            <a:outerShdw blurRad="50800" dist="50800" dir="5400000" algn="ctr" rotWithShape="0">
              <a:srgbClr val="000000"/>
            </a:outerShdw>
          </a:effectLst>
        </p:spPr>
        <p:txBody>
          <a:bodyPr>
            <a:normAutofit/>
          </a:bodyPr>
          <a:lstStyle/>
          <a:p>
            <a:r>
              <a:rPr lang="ru-RU" sz="54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Готовый рабочий инструмент, а не учебная заготовка</a:t>
            </a:r>
            <a:br>
              <a:rPr lang="ru-RU" sz="54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5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2000" y="2592850"/>
            <a:ext cx="10610850" cy="194105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решает понятный командный сценарий: помогает быстро назначать задачи, отслеживать статусы и находить нужные записи без лишней сложности. Архитектура Laravel делает код предсказуемым и удобным для развития.</a:t>
            </a:r>
          </a:p>
          <a:p>
            <a:endParaRPr lang="ru-RU" sz="3200" dirty="0">
              <a:solidFill>
                <a:srgbClr val="00B0F0"/>
              </a:solidFill>
            </a:endParaRPr>
          </a:p>
        </p:txBody>
      </p:sp>
      <p:sp>
        <p:nvSpPr>
          <p:cNvPr id="6" name="Равнобедренный треугольник 5"/>
          <p:cNvSpPr/>
          <p:nvPr/>
        </p:nvSpPr>
        <p:spPr>
          <a:xfrm rot="13142368">
            <a:off x="-1230081" y="5596992"/>
            <a:ext cx="3374561" cy="2522016"/>
          </a:xfrm>
          <a:prstGeom prst="triangle">
            <a:avLst/>
          </a:prstGeom>
          <a:ln/>
          <a:effectLst>
            <a:glow rad="317500">
              <a:schemeClr val="bg1"/>
            </a:glow>
            <a:outerShdw blurRad="177800" dist="50800" dir="8400000" sx="200000" sy="200000" algn="ctr" rotWithShape="0">
              <a:srgbClr val="000000">
                <a:alpha val="43137"/>
              </a:srgbClr>
            </a:outerShdw>
            <a:reflection endPos="0" dir="5400000" sy="-100000" algn="bl" rotWithShape="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4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39000">
              <a:srgbClr val="7030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968998" cy="3526618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0D0D0D"/>
              </a:gs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7000"/>
                </a:srgbClr>
              </a:gs>
            </a:gsLst>
            <a:lin ang="2700000" scaled="1"/>
          </a:gradFill>
          <a:effectLst>
            <a:glow rad="965200">
              <a:schemeClr val="tx1">
                <a:lumMod val="95000"/>
                <a:lumOff val="5000"/>
              </a:schemeClr>
            </a:glow>
            <a:outerShdw blurRad="50800" dir="5400000" sx="131000" sy="131000" algn="ctr" rotWithShape="0">
              <a:srgbClr val="000000">
                <a:alpha val="30000"/>
              </a:srgbClr>
            </a:outerShdw>
            <a:reflection stA="0" endPos="0" dist="50800" dir="5400000" sy="-100000" algn="bl" rotWithShape="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6618"/>
            <a:ext cx="5968999" cy="325193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9" y="3546109"/>
            <a:ext cx="6223000" cy="323244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9" y="-19492"/>
            <a:ext cx="6223001" cy="3803664"/>
          </a:xfrm>
          <a:prstGeom prst="rect">
            <a:avLst/>
          </a:prstGeom>
        </p:spPr>
      </p:pic>
      <p:sp>
        <p:nvSpPr>
          <p:cNvPr id="14" name="Круговая 13"/>
          <p:cNvSpPr/>
          <p:nvPr/>
        </p:nvSpPr>
        <p:spPr>
          <a:xfrm rot="16200000">
            <a:off x="-1651933" y="-3834694"/>
            <a:ext cx="15309053" cy="14128954"/>
          </a:xfrm>
          <a:prstGeom prst="pie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/>
              </a:gs>
            </a:gsLst>
            <a:lin ang="2700000" scaled="1"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6665510" y="23158"/>
            <a:ext cx="3822700" cy="1346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 вход</a:t>
            </a:r>
          </a:p>
          <a:p>
            <a:pPr algn="ctr"/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6489700" y="825500"/>
            <a:ext cx="4368800" cy="5664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создаёт персональный доступ к задачам, поэтому каждый пользователь работает в собственном контексте, а данные и действия связываются с конкретным аккаунтом.</a:t>
            </a:r>
          </a:p>
          <a:p>
            <a:pPr algn="ctr"/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263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39000">
              <a:srgbClr val="7030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968998" cy="3526618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0D0D0D"/>
              </a:gs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7000"/>
                </a:srgbClr>
              </a:gs>
            </a:gsLst>
            <a:lin ang="2700000" scaled="1"/>
          </a:gradFill>
          <a:effectLst>
            <a:glow rad="965200">
              <a:schemeClr val="tx1">
                <a:lumMod val="95000"/>
                <a:lumOff val="5000"/>
              </a:schemeClr>
            </a:glow>
            <a:outerShdw blurRad="50800" dir="5400000" sx="131000" sy="131000" algn="ctr" rotWithShape="0">
              <a:srgbClr val="000000">
                <a:alpha val="30000"/>
              </a:srgbClr>
            </a:outerShdw>
            <a:reflection stA="0" endPos="0" dist="50800" dir="5400000" sy="-100000" algn="bl" rotWithShape="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6618"/>
            <a:ext cx="5968999" cy="325193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9" y="3546109"/>
            <a:ext cx="6223000" cy="323244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9" y="-19492"/>
            <a:ext cx="6223001" cy="3803664"/>
          </a:xfrm>
          <a:prstGeom prst="rect">
            <a:avLst/>
          </a:prstGeom>
        </p:spPr>
      </p:pic>
      <p:sp>
        <p:nvSpPr>
          <p:cNvPr id="14" name="Круговая 13"/>
          <p:cNvSpPr/>
          <p:nvPr/>
        </p:nvSpPr>
        <p:spPr>
          <a:xfrm>
            <a:off x="-1964044" y="-2761902"/>
            <a:ext cx="16696981" cy="12577039"/>
          </a:xfrm>
          <a:prstGeom prst="pie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/>
              </a:gs>
            </a:gsLst>
            <a:lin ang="2700000" scaled="1"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483646" y="0"/>
            <a:ext cx="3822700" cy="13462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 вход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997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39000">
              <a:srgbClr val="7030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968998" cy="3526618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0D0D0D"/>
              </a:gs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7000"/>
                </a:srgbClr>
              </a:gs>
            </a:gsLst>
            <a:lin ang="2700000" scaled="1"/>
          </a:gradFill>
          <a:effectLst>
            <a:glow rad="965200">
              <a:schemeClr val="tx1">
                <a:lumMod val="95000"/>
                <a:lumOff val="5000"/>
              </a:schemeClr>
            </a:glow>
            <a:outerShdw blurRad="50800" dir="5400000" sx="131000" sy="131000" algn="ctr" rotWithShape="0">
              <a:srgbClr val="000000">
                <a:alpha val="30000"/>
              </a:srgbClr>
            </a:outerShdw>
            <a:reflection stA="0" endPos="0" dist="50800" dir="5400000" sy="-100000" algn="bl" rotWithShape="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57797"/>
            <a:ext cx="5968999" cy="340020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9" y="3546109"/>
            <a:ext cx="6223000" cy="323244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9" y="-19492"/>
            <a:ext cx="6223001" cy="3803664"/>
          </a:xfrm>
          <a:prstGeom prst="rect">
            <a:avLst/>
          </a:prstGeom>
        </p:spPr>
      </p:pic>
      <p:sp>
        <p:nvSpPr>
          <p:cNvPr id="14" name="Круговая 13"/>
          <p:cNvSpPr/>
          <p:nvPr/>
        </p:nvSpPr>
        <p:spPr>
          <a:xfrm rot="10800000">
            <a:off x="-1779722" y="-2912253"/>
            <a:ext cx="15497442" cy="12547542"/>
          </a:xfrm>
          <a:prstGeom prst="pie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/>
              </a:gs>
            </a:gsLst>
            <a:lin ang="2700000" scaled="1"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1726962"/>
            <a:ext cx="6381750" cy="14573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0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и редактирование</a:t>
            </a:r>
            <a:endParaRPr lang="ru-RU" sz="40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525484" y="2223455"/>
            <a:ext cx="4286250" cy="44862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может добавлять задачи, обновлять их описание и удалять ненужные записи, поддерживая актуальность списка без перехода в сторонние инструменты.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085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39000">
              <a:srgbClr val="7030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5968998" cy="3526618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0D0D0D"/>
              </a:gs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>
                  <a:alpha val="97000"/>
                </a:srgbClr>
              </a:gs>
            </a:gsLst>
            <a:lin ang="2700000" scaled="1"/>
          </a:gradFill>
          <a:effectLst>
            <a:glow rad="965200">
              <a:schemeClr val="tx1">
                <a:lumMod val="95000"/>
                <a:lumOff val="5000"/>
              </a:schemeClr>
            </a:glow>
            <a:outerShdw blurRad="50800" dir="5400000" sx="131000" sy="131000" algn="ctr" rotWithShape="0">
              <a:srgbClr val="000000">
                <a:alpha val="30000"/>
              </a:srgbClr>
            </a:outerShdw>
            <a:reflection stA="0" endPos="0" dist="50800" dir="5400000" sy="-100000" algn="bl" rotWithShape="0"/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26618"/>
            <a:ext cx="5968999" cy="325193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219" y="3304515"/>
            <a:ext cx="6681310" cy="355348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999" y="-277046"/>
            <a:ext cx="6223001" cy="3581561"/>
          </a:xfrm>
          <a:prstGeom prst="rect">
            <a:avLst/>
          </a:prstGeom>
        </p:spPr>
      </p:pic>
      <p:sp>
        <p:nvSpPr>
          <p:cNvPr id="14" name="Круговая 13"/>
          <p:cNvSpPr/>
          <p:nvPr/>
        </p:nvSpPr>
        <p:spPr>
          <a:xfrm rot="5400000">
            <a:off x="-2064247" y="-4224538"/>
            <a:ext cx="16298725" cy="14954868"/>
          </a:xfrm>
          <a:prstGeom prst="pie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00000">
                <a:srgbClr val="7030A0"/>
              </a:gs>
            </a:gsLst>
            <a:lin ang="2700000" scaled="1"/>
          </a:gra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682800" y="549328"/>
            <a:ext cx="5297715" cy="142886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8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Статусы и метки</a:t>
            </a:r>
            <a:endParaRPr lang="ru-RU" sz="48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2641" y="246744"/>
            <a:ext cx="4832557" cy="62991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Статусы и </a:t>
            </a:r>
            <a:r>
              <a:rPr lang="ru-RU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labels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помогают структурировать поток задач, быстро выделять важные элементы и гибко группировать записи по смыслу, приоритету или этапу выполнения.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114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39000">
              <a:srgbClr val="7030A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авнобедренный треугольник 6"/>
          <p:cNvSpPr/>
          <p:nvPr/>
        </p:nvSpPr>
        <p:spPr>
          <a:xfrm rot="15767619">
            <a:off x="6472711" y="2546554"/>
            <a:ext cx="6477948" cy="7950785"/>
          </a:xfrm>
          <a:prstGeom prst="triangle">
            <a:avLst/>
          </a:prstGeom>
          <a:ln/>
          <a:effectLst>
            <a:glow rad="317500">
              <a:schemeClr val="bg1"/>
            </a:glow>
            <a:outerShdw blurRad="177800" dist="50800" dir="8400000" sx="200000" sy="200000" algn="ctr" rotWithShape="0">
              <a:srgbClr val="000000">
                <a:alpha val="43137"/>
              </a:srgbClr>
            </a:outerShdw>
            <a:reflection endPos="0" dir="5400000" sy="-100000" algn="bl" rotWithShape="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21657" y="141294"/>
            <a:ext cx="10782300" cy="2387600"/>
          </a:xfrm>
          <a:noFill/>
          <a:effectLst>
            <a:outerShdw blurRad="50800" dist="50800" dir="5400000" algn="ctr" rotWithShape="0">
              <a:srgbClr val="000000"/>
            </a:outerShdw>
          </a:effectLst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ru-RU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ru-RU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как законченный и убедительный проект</a:t>
            </a:r>
            <a:r>
              <a:rPr lang="ru-RU" sz="5400" dirty="0" smtClean="0">
                <a:solidFill>
                  <a:srgbClr val="00B0F0"/>
                </a:solidFill>
              </a:rPr>
              <a:t/>
            </a:r>
            <a:br>
              <a:rPr lang="ru-RU" sz="5400" dirty="0" smtClean="0">
                <a:solidFill>
                  <a:srgbClr val="00B0F0"/>
                </a:solidFill>
              </a:rPr>
            </a:br>
            <a:endParaRPr lang="ru-RU" sz="5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2000" y="2592850"/>
            <a:ext cx="10610850" cy="194105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</a:t>
            </a:r>
            <a:r>
              <a:rPr lang="ru-RU" sz="3600" dirty="0" err="1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ru-RU" sz="3600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показывает полный цикл работы с задачами в Laravel: от входа пользователя до фильтрации, статусов и назначения исполнителей. Это сильная основа для команды и дальнейшего развития.</a:t>
            </a:r>
          </a:p>
          <a:p>
            <a:endParaRPr lang="ru-RU" sz="3200" b="1" dirty="0">
              <a:solidFill>
                <a:srgbClr val="00B0F0"/>
              </a:solidFill>
            </a:endParaRPr>
          </a:p>
        </p:txBody>
      </p:sp>
      <p:sp>
        <p:nvSpPr>
          <p:cNvPr id="6" name="Равнобедренный треугольник 5"/>
          <p:cNvSpPr/>
          <p:nvPr/>
        </p:nvSpPr>
        <p:spPr>
          <a:xfrm rot="13142368">
            <a:off x="-1230081" y="5596992"/>
            <a:ext cx="3374561" cy="2522016"/>
          </a:xfrm>
          <a:prstGeom prst="triangle">
            <a:avLst/>
          </a:prstGeom>
          <a:ln/>
          <a:effectLst>
            <a:glow rad="317500">
              <a:schemeClr val="bg1"/>
            </a:glow>
            <a:outerShdw blurRad="177800" dist="50800" dir="8400000" sx="200000" sy="200000" algn="ctr" rotWithShape="0">
              <a:srgbClr val="000000">
                <a:alpha val="43137"/>
              </a:srgbClr>
            </a:outerShdw>
            <a:reflection endPos="0" dir="5400000" sy="-100000" algn="bl" rotWithShape="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24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58</Words>
  <Application>Microsoft Office PowerPoint</Application>
  <PresentationFormat>Широкоэкранный</PresentationFormat>
  <Paragraphs>13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Task Manager: веб-приложение для управления задачами и командой </vt:lpstr>
      <vt:lpstr>Готовый рабочий инструмент, а не учебная заготовка </vt:lpstr>
      <vt:lpstr>Презентация PowerPoint</vt:lpstr>
      <vt:lpstr>Презентация PowerPoint</vt:lpstr>
      <vt:lpstr>Презентация PowerPoint</vt:lpstr>
      <vt:lpstr>Презентация PowerPoint</vt:lpstr>
      <vt:lpstr>Task Manager как законченный и убедительный проект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Manager: веб-приложение для управления задачами и командой </dc:title>
  <dc:creator>Maga1</dc:creator>
  <cp:lastModifiedBy>Maga1</cp:lastModifiedBy>
  <cp:revision>7</cp:revision>
  <dcterms:created xsi:type="dcterms:W3CDTF">2026-06-03T16:28:21Z</dcterms:created>
  <dcterms:modified xsi:type="dcterms:W3CDTF">2026-06-03T17:46:58Z</dcterms:modified>
</cp:coreProperties>
</file>
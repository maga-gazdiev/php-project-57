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9"/>
  </p:notesMasterIdLst>
  <p:sldIdLst>
    <p:sldId id="256" r:id="rId2"/>
    <p:sldId id="263" r:id="rId3"/>
    <p:sldId id="267" r:id="rId4"/>
    <p:sldId id="266" r:id="rId5"/>
    <p:sldId id="264" r:id="rId6"/>
    <p:sldId id="271" r:id="rId7"/>
    <p:sldId id="265" r:id="rId8"/>
    <p:sldId id="268" r:id="rId9"/>
    <p:sldId id="272" r:id="rId10"/>
    <p:sldId id="269" r:id="rId11"/>
    <p:sldId id="273" r:id="rId12"/>
    <p:sldId id="279" r:id="rId13"/>
    <p:sldId id="274" r:id="rId14"/>
    <p:sldId id="275" r:id="rId15"/>
    <p:sldId id="278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796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46687-E761-4DEC-854B-91564F79A8E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200F8-78BC-496F-9A77-4E771BC5EA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75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23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5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13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123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321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60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943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53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216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766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120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7789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773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036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145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853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33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3652F-B40D-456D-BE92-93C2BF629694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D4D22-8023-484B-A0CF-671CDE546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786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jpg"/><Relationship Id="rId4" Type="http://schemas.openxmlformats.org/officeDocument/2006/relationships/image" Target="../media/image5.jpeg"/><Relationship Id="rId9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jpg"/><Relationship Id="rId4" Type="http://schemas.openxmlformats.org/officeDocument/2006/relationships/image" Target="../media/image5.jpeg"/><Relationship Id="rId9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jpg"/><Relationship Id="rId4" Type="http://schemas.openxmlformats.org/officeDocument/2006/relationships/image" Target="../media/image5.jpeg"/><Relationship Id="rId9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jpg"/><Relationship Id="rId5" Type="http://schemas.openxmlformats.org/officeDocument/2006/relationships/image" Target="../media/image6.jpeg"/><Relationship Id="rId10" Type="http://schemas.openxmlformats.org/officeDocument/2006/relationships/image" Target="../media/image11.jpg"/><Relationship Id="rId4" Type="http://schemas.openxmlformats.org/officeDocument/2006/relationships/image" Target="../media/image5.jpeg"/><Relationship Id="rId9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C21846B-65B4-411E-8948-B4BCDA6334A8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246E85B6-5077-4ACF-A930-A8ACCCFC1691}"/>
              </a:ext>
            </a:extLst>
          </p:cNvPr>
          <p:cNvGrpSpPr/>
          <p:nvPr/>
        </p:nvGrpSpPr>
        <p:grpSpPr>
          <a:xfrm>
            <a:off x="-18138981" y="3310292"/>
            <a:ext cx="46339111" cy="45719"/>
            <a:chOff x="1169879" y="433386"/>
            <a:chExt cx="46339111" cy="5991227"/>
          </a:xfrm>
        </p:grpSpPr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AFCA3D6A-7FE5-4367-94A3-495E83F4D361}"/>
                </a:ext>
              </a:extLst>
            </p:cNvPr>
            <p:cNvGrpSpPr/>
            <p:nvPr/>
          </p:nvGrpSpPr>
          <p:grpSpPr>
            <a:xfrm>
              <a:off x="2032861" y="433386"/>
              <a:ext cx="44609658" cy="5991227"/>
              <a:chOff x="2013857" y="433385"/>
              <a:chExt cx="44609658" cy="5991227"/>
            </a:xfrm>
          </p:grpSpPr>
          <p:pic>
            <p:nvPicPr>
              <p:cNvPr id="28" name="Picture 4" descr="Picture background">
                <a:extLst>
                  <a:ext uri="{FF2B5EF4-FFF2-40B4-BE49-F238E27FC236}">
                    <a16:creationId xmlns:a16="http://schemas.microsoft.com/office/drawing/2014/main" id="{ECF459F5-BA6C-4753-8BC1-36F1D0E84D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3857" y="433387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9" name="Picture 8" descr="Picture background">
                <a:extLst>
                  <a:ext uri="{FF2B5EF4-FFF2-40B4-BE49-F238E27FC236}">
                    <a16:creationId xmlns:a16="http://schemas.microsoft.com/office/drawing/2014/main" id="{6DBFF046-3AFA-46D8-AC7D-D44C38B882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25200" y="433386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10" descr="Picture background">
                <a:extLst>
                  <a:ext uri="{FF2B5EF4-FFF2-40B4-BE49-F238E27FC236}">
                    <a16:creationId xmlns:a16="http://schemas.microsoft.com/office/drawing/2014/main" id="{1C8DA26D-23AE-45F9-995F-6D4F47266E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36543" y="433386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12" descr="Picture background">
                <a:extLst>
                  <a:ext uri="{FF2B5EF4-FFF2-40B4-BE49-F238E27FC236}">
                    <a16:creationId xmlns:a16="http://schemas.microsoft.com/office/drawing/2014/main" id="{67F11A88-9552-4248-A5FE-125B49C369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347886" y="433385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14" descr="Picture background">
                <a:extLst>
                  <a:ext uri="{FF2B5EF4-FFF2-40B4-BE49-F238E27FC236}">
                    <a16:creationId xmlns:a16="http://schemas.microsoft.com/office/drawing/2014/main" id="{A03A481B-5407-4DA0-9C59-45FA2ED899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59229" y="433385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0BB582A4-DD20-4965-B133-94A06ADD7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69879" y="3036058"/>
              <a:ext cx="785884" cy="785884"/>
            </a:xfrm>
            <a:prstGeom prst="rect">
              <a:avLst/>
            </a:prstGeom>
          </p:spPr>
        </p:pic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0E23EDF5-261C-4CD8-B811-1208F121A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7733" y="3036058"/>
              <a:ext cx="785884" cy="785884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CF7EC500-9148-41CE-8B90-B64E62603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378266" y="3036058"/>
              <a:ext cx="785884" cy="785884"/>
            </a:xfrm>
            <a:prstGeom prst="rect">
              <a:avLst/>
            </a:prstGeom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120144AC-FB96-41F1-A7F2-214207747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511230" y="3036056"/>
              <a:ext cx="785884" cy="785884"/>
            </a:xfrm>
            <a:prstGeom prst="rect">
              <a:avLst/>
            </a:prstGeom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535F9118-FACF-47BF-A499-1B53B5E42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611762" y="3036056"/>
              <a:ext cx="785884" cy="785884"/>
            </a:xfrm>
            <a:prstGeom prst="rect">
              <a:avLst/>
            </a:prstGeom>
          </p:spPr>
        </p:pic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BBC812B0-4E4D-4E8F-BBC1-C1688001A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723106" y="3036056"/>
              <a:ext cx="785884" cy="785884"/>
            </a:xfrm>
            <a:prstGeom prst="rect">
              <a:avLst/>
            </a:prstGeom>
          </p:spPr>
        </p:pic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1FCA7E-C3C8-4A2B-97C0-91736966DE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164" y="638175"/>
            <a:ext cx="5435672" cy="543567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A7D631C-6B2D-4596-8F0C-70034464A4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164" y="638175"/>
            <a:ext cx="5435672" cy="54356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ECF5EC-C3E1-46FB-86E4-F18630346CD9}"/>
              </a:ext>
            </a:extLst>
          </p:cNvPr>
          <p:cNvSpPr txBox="1"/>
          <p:nvPr/>
        </p:nvSpPr>
        <p:spPr>
          <a:xfrm>
            <a:off x="1593273" y="366623"/>
            <a:ext cx="900545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2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Таск менеджер</a:t>
            </a:r>
          </a:p>
          <a:p>
            <a:pPr algn="ctr"/>
            <a:endParaRPr lang="ru-RU" sz="7200" b="1" i="0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Monomakh Unicode" panose="02060703080006000000" pitchFamily="18" charset="0"/>
              <a:ea typeface="Monomakh Unicode" panose="02060703080006000000" pitchFamily="18" charset="0"/>
            </a:endParaRPr>
          </a:p>
          <a:p>
            <a:pPr algn="ctr"/>
            <a:endParaRPr lang="ru-RU" sz="72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Monomakh Unicode" panose="02060703080006000000" pitchFamily="18" charset="0"/>
              <a:ea typeface="Monomakh Unicode" panose="02060703080006000000" pitchFamily="18" charset="0"/>
            </a:endParaRPr>
          </a:p>
          <a:p>
            <a:pPr algn="ctr"/>
            <a:r>
              <a:rPr lang="ru-RU" sz="72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 </a:t>
            </a:r>
          </a:p>
          <a:p>
            <a:pPr algn="ctr"/>
            <a:endParaRPr lang="ru-RU" sz="72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Monomakh Unicode" panose="02060703080006000000" pitchFamily="18" charset="0"/>
              <a:ea typeface="Monomakh Unicode" panose="02060703080006000000" pitchFamily="18" charset="0"/>
            </a:endParaRPr>
          </a:p>
          <a:p>
            <a:pPr algn="ctr"/>
            <a:r>
              <a:rPr lang="ru-RU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Управляй задачами, контролируй результат</a:t>
            </a:r>
            <a:endParaRPr lang="ru-RU" sz="3200" b="1" i="0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Monomakh Unicode" panose="02060703080006000000" pitchFamily="18" charset="0"/>
              <a:ea typeface="Monomakh Unicode" panose="0206070308000600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388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1036DF1-EAC6-46C5-A429-0A7B0815D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1544" y="3036056"/>
            <a:ext cx="785884" cy="78588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B28400B-5C51-46DB-830A-C0DA4F11A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2888" y="3036056"/>
            <a:ext cx="785884" cy="785884"/>
          </a:xfrm>
          <a:prstGeom prst="rect">
            <a:avLst/>
          </a:prstGeom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AA8A7B27-0320-4F08-8996-EB99FB7C89C1}"/>
              </a:ext>
            </a:extLst>
          </p:cNvPr>
          <p:cNvGrpSpPr/>
          <p:nvPr/>
        </p:nvGrpSpPr>
        <p:grpSpPr>
          <a:xfrm>
            <a:off x="918517" y="433385"/>
            <a:ext cx="46339111" cy="5991227"/>
            <a:chOff x="1169879" y="433386"/>
            <a:chExt cx="46339111" cy="5991227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45AC4258-DA1A-4E60-A8C6-C9C942E5F708}"/>
                </a:ext>
              </a:extLst>
            </p:cNvPr>
            <p:cNvGrpSpPr/>
            <p:nvPr/>
          </p:nvGrpSpPr>
          <p:grpSpPr>
            <a:xfrm>
              <a:off x="2032861" y="433386"/>
              <a:ext cx="44609658" cy="5991227"/>
              <a:chOff x="2013857" y="433385"/>
              <a:chExt cx="44609658" cy="5991227"/>
            </a:xfrm>
          </p:grpSpPr>
          <p:pic>
            <p:nvPicPr>
              <p:cNvPr id="31" name="Picture 4" descr="Picture background">
                <a:extLst>
                  <a:ext uri="{FF2B5EF4-FFF2-40B4-BE49-F238E27FC236}">
                    <a16:creationId xmlns:a16="http://schemas.microsoft.com/office/drawing/2014/main" id="{276490AA-E9B0-4CF3-9B10-9593E07466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3857" y="433387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8" descr="Picture background">
                <a:extLst>
                  <a:ext uri="{FF2B5EF4-FFF2-40B4-BE49-F238E27FC236}">
                    <a16:creationId xmlns:a16="http://schemas.microsoft.com/office/drawing/2014/main" id="{B594D0F4-4807-4837-9A12-BACF7AF8C2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25200" y="433386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" name="Picture 10" descr="Picture background">
                <a:extLst>
                  <a:ext uri="{FF2B5EF4-FFF2-40B4-BE49-F238E27FC236}">
                    <a16:creationId xmlns:a16="http://schemas.microsoft.com/office/drawing/2014/main" id="{EA730A78-87C8-414B-BD53-94F795979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36543" y="433386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Picture 12" descr="Picture background">
                <a:extLst>
                  <a:ext uri="{FF2B5EF4-FFF2-40B4-BE49-F238E27FC236}">
                    <a16:creationId xmlns:a16="http://schemas.microsoft.com/office/drawing/2014/main" id="{FD961351-B3DE-4564-978C-DC6CEA39D8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347886" y="433385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" name="Picture 14" descr="Picture background">
                <a:extLst>
                  <a:ext uri="{FF2B5EF4-FFF2-40B4-BE49-F238E27FC236}">
                    <a16:creationId xmlns:a16="http://schemas.microsoft.com/office/drawing/2014/main" id="{0D0710D7-4091-4335-9F5B-8704ACE7B4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59229" y="433385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786C48C6-6AF5-4E7B-A409-62B171576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9879" y="3036058"/>
              <a:ext cx="785884" cy="785884"/>
            </a:xfrm>
            <a:prstGeom prst="rect">
              <a:avLst/>
            </a:prstGeom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C2E74CFC-7350-472D-8891-BB70D9786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77733" y="3036058"/>
              <a:ext cx="785884" cy="785884"/>
            </a:xfrm>
            <a:prstGeom prst="rect">
              <a:avLst/>
            </a:prstGeom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886A364C-42C7-4583-BA59-849046DF8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78266" y="3036058"/>
              <a:ext cx="785884" cy="785884"/>
            </a:xfrm>
            <a:prstGeom prst="rect">
              <a:avLst/>
            </a:prstGeom>
          </p:spPr>
        </p:pic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E7DCBA5D-0A6E-4441-A2EF-9AEAEA964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11230" y="3036056"/>
              <a:ext cx="785884" cy="785884"/>
            </a:xfrm>
            <a:prstGeom prst="rect">
              <a:avLst/>
            </a:prstGeom>
          </p:spPr>
        </p:pic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F842F513-C7FA-44A2-AC9F-66090308E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11762" y="3036056"/>
              <a:ext cx="785884" cy="785884"/>
            </a:xfrm>
            <a:prstGeom prst="rect">
              <a:avLst/>
            </a:prstGeom>
          </p:spPr>
        </p:pic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8F2ACE42-381D-418C-BB8F-FE0821C4E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23106" y="3036056"/>
              <a:ext cx="785884" cy="7858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846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761415A2-B661-43B9-95B6-E73E0676085D}"/>
              </a:ext>
            </a:extLst>
          </p:cNvPr>
          <p:cNvGrpSpPr/>
          <p:nvPr/>
        </p:nvGrpSpPr>
        <p:grpSpPr>
          <a:xfrm>
            <a:off x="918517" y="433385"/>
            <a:ext cx="46339111" cy="5991227"/>
            <a:chOff x="1169879" y="433386"/>
            <a:chExt cx="46339111" cy="5991227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E9FAFB6D-F869-41CE-A927-2F538F7B9AD1}"/>
                </a:ext>
              </a:extLst>
            </p:cNvPr>
            <p:cNvGrpSpPr/>
            <p:nvPr/>
          </p:nvGrpSpPr>
          <p:grpSpPr>
            <a:xfrm>
              <a:off x="2032861" y="433386"/>
              <a:ext cx="44609658" cy="5991227"/>
              <a:chOff x="2013857" y="433385"/>
              <a:chExt cx="44609658" cy="5991227"/>
            </a:xfrm>
          </p:grpSpPr>
          <p:pic>
            <p:nvPicPr>
              <p:cNvPr id="31" name="Picture 4" descr="Picture background">
                <a:extLst>
                  <a:ext uri="{FF2B5EF4-FFF2-40B4-BE49-F238E27FC236}">
                    <a16:creationId xmlns:a16="http://schemas.microsoft.com/office/drawing/2014/main" id="{3E8ECFBC-54E4-43B6-B0D7-4BCAE65EAF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3857" y="433387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8" descr="Picture background">
                <a:extLst>
                  <a:ext uri="{FF2B5EF4-FFF2-40B4-BE49-F238E27FC236}">
                    <a16:creationId xmlns:a16="http://schemas.microsoft.com/office/drawing/2014/main" id="{D1A51102-2DF4-4AF4-B66A-95369B837C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25200" y="433386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" name="Picture 10" descr="Picture background">
                <a:extLst>
                  <a:ext uri="{FF2B5EF4-FFF2-40B4-BE49-F238E27FC236}">
                    <a16:creationId xmlns:a16="http://schemas.microsoft.com/office/drawing/2014/main" id="{E3572A88-0A09-4C01-A69D-4B04AC2CB3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36543" y="433386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Picture 12" descr="Picture background">
                <a:extLst>
                  <a:ext uri="{FF2B5EF4-FFF2-40B4-BE49-F238E27FC236}">
                    <a16:creationId xmlns:a16="http://schemas.microsoft.com/office/drawing/2014/main" id="{FA20475D-91D1-4109-B690-DE92A8C00A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347886" y="433385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" name="Picture 14" descr="Picture background">
                <a:extLst>
                  <a:ext uri="{FF2B5EF4-FFF2-40B4-BE49-F238E27FC236}">
                    <a16:creationId xmlns:a16="http://schemas.microsoft.com/office/drawing/2014/main" id="{174FAAC6-F761-48AC-8C35-38C4E8400D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59229" y="433385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DA750FB3-5500-45F8-A6D1-F0CBA27F0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69879" y="3036058"/>
              <a:ext cx="785884" cy="785884"/>
            </a:xfrm>
            <a:prstGeom prst="rect">
              <a:avLst/>
            </a:prstGeom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1B45A6C7-2FB5-4BE9-9C76-DFC4DD1CC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7733" y="3036058"/>
              <a:ext cx="785884" cy="785884"/>
            </a:xfrm>
            <a:prstGeom prst="rect">
              <a:avLst/>
            </a:prstGeom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2E043E75-E2DF-4E0D-9F3F-D1EF2DE45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378266" y="3036058"/>
              <a:ext cx="785884" cy="785884"/>
            </a:xfrm>
            <a:prstGeom prst="rect">
              <a:avLst/>
            </a:prstGeom>
          </p:spPr>
        </p:pic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48A73F7D-8D94-482B-9A32-CDF293BA2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511230" y="3036056"/>
              <a:ext cx="785884" cy="785884"/>
            </a:xfrm>
            <a:prstGeom prst="rect">
              <a:avLst/>
            </a:prstGeom>
          </p:spPr>
        </p:pic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70EF519D-175C-4D9D-8400-0E2220AF9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611762" y="3036056"/>
              <a:ext cx="785884" cy="785884"/>
            </a:xfrm>
            <a:prstGeom prst="rect">
              <a:avLst/>
            </a:prstGeom>
          </p:spPr>
        </p:pic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E3357786-4BCB-490E-A8BA-CF14C28A4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723106" y="3036056"/>
              <a:ext cx="785884" cy="785884"/>
            </a:xfrm>
            <a:prstGeom prst="rect">
              <a:avLst/>
            </a:prstGeom>
          </p:spPr>
        </p:pic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0AA8D8EA-490B-47BB-A6EE-A38E73AD99D8}"/>
                </a:ext>
              </a:extLst>
            </p:cNvPr>
            <p:cNvSpPr/>
            <p:nvPr/>
          </p:nvSpPr>
          <p:spPr>
            <a:xfrm>
              <a:off x="2627586" y="1051034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803164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0190969-506E-4700-93D9-C5B328D97C50}"/>
              </a:ext>
            </a:extLst>
          </p:cNvPr>
          <p:cNvGrpSpPr/>
          <p:nvPr/>
        </p:nvGrpSpPr>
        <p:grpSpPr>
          <a:xfrm>
            <a:off x="809661" y="433386"/>
            <a:ext cx="46339111" cy="5991227"/>
            <a:chOff x="1169879" y="433386"/>
            <a:chExt cx="46339111" cy="5991227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61F26AA5-C06B-4345-8D6C-AFC4782F4F68}"/>
                </a:ext>
              </a:extLst>
            </p:cNvPr>
            <p:cNvGrpSpPr/>
            <p:nvPr/>
          </p:nvGrpSpPr>
          <p:grpSpPr>
            <a:xfrm>
              <a:off x="2032861" y="433386"/>
              <a:ext cx="44609658" cy="5991227"/>
              <a:chOff x="2013857" y="433385"/>
              <a:chExt cx="44609658" cy="5991227"/>
            </a:xfrm>
          </p:grpSpPr>
          <p:pic>
            <p:nvPicPr>
              <p:cNvPr id="1028" name="Picture 4" descr="Picture background">
                <a:extLst>
                  <a:ext uri="{FF2B5EF4-FFF2-40B4-BE49-F238E27FC236}">
                    <a16:creationId xmlns:a16="http://schemas.microsoft.com/office/drawing/2014/main" id="{E0FF3B60-D33E-4164-BD8A-6CD9ADD182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3857" y="433387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 descr="Picture background">
                <a:extLst>
                  <a:ext uri="{FF2B5EF4-FFF2-40B4-BE49-F238E27FC236}">
                    <a16:creationId xmlns:a16="http://schemas.microsoft.com/office/drawing/2014/main" id="{5679C109-81BE-41D6-A889-9031D264F3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25200" y="433386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 descr="Picture background">
                <a:extLst>
                  <a:ext uri="{FF2B5EF4-FFF2-40B4-BE49-F238E27FC236}">
                    <a16:creationId xmlns:a16="http://schemas.microsoft.com/office/drawing/2014/main" id="{10D1F559-5EF9-40CF-A282-BBD369D689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36543" y="433386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6" name="Picture 12" descr="Picture background">
                <a:extLst>
                  <a:ext uri="{FF2B5EF4-FFF2-40B4-BE49-F238E27FC236}">
                    <a16:creationId xmlns:a16="http://schemas.microsoft.com/office/drawing/2014/main" id="{A3E83312-6B40-4983-A14C-2DEC0BA06D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347886" y="433385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8" name="Picture 14" descr="Picture background">
                <a:extLst>
                  <a:ext uri="{FF2B5EF4-FFF2-40B4-BE49-F238E27FC236}">
                    <a16:creationId xmlns:a16="http://schemas.microsoft.com/office/drawing/2014/main" id="{8B4AA336-15AB-4511-AF47-8F61674CCC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59229" y="433385"/>
                <a:ext cx="8164286" cy="5991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7962830D-28CE-4CC8-98F6-B88657F2A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69879" y="3036058"/>
              <a:ext cx="785884" cy="785884"/>
            </a:xfrm>
            <a:prstGeom prst="rect">
              <a:avLst/>
            </a:prstGeom>
          </p:spPr>
        </p:pic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234E2F85-6902-4D9F-8069-C9758D8E3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7733" y="3036058"/>
              <a:ext cx="785884" cy="785884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F70BF27E-C329-42D5-8100-D40AF12DB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378266" y="3036058"/>
              <a:ext cx="785884" cy="785884"/>
            </a:xfrm>
            <a:prstGeom prst="rect">
              <a:avLst/>
            </a:prstGeom>
          </p:spPr>
        </p:pic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AEA93063-65BC-45AE-9E3B-79E38DDBC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511230" y="3036056"/>
              <a:ext cx="785884" cy="785884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11036DF1-EAC6-46C5-A429-0A7B0815D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611762" y="3036056"/>
              <a:ext cx="785884" cy="785884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5B28400B-5C51-46DB-830A-C0DA4F11A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723106" y="3036056"/>
              <a:ext cx="785884" cy="785884"/>
            </a:xfrm>
            <a:prstGeom prst="rect">
              <a:avLst/>
            </a:prstGeom>
          </p:spPr>
        </p:pic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AF66AFBA-B554-4DAE-A0AC-2372E9B19F9D}"/>
                </a:ext>
              </a:extLst>
            </p:cNvPr>
            <p:cNvSpPr/>
            <p:nvPr/>
          </p:nvSpPr>
          <p:spPr>
            <a:xfrm>
              <a:off x="2627586" y="1051034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432767A-C4FE-414A-AA2A-FCDAB126CCE5}"/>
              </a:ext>
            </a:extLst>
          </p:cNvPr>
          <p:cNvSpPr txBox="1"/>
          <p:nvPr/>
        </p:nvSpPr>
        <p:spPr>
          <a:xfrm>
            <a:off x="2675254" y="1720838"/>
            <a:ext cx="61590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ХАОС В ЗАДАЧАХ СТОИТ ВАМ ДЕНЕГ </a:t>
            </a:r>
          </a:p>
          <a:p>
            <a:pPr algn="ctr"/>
            <a:endParaRPr lang="ru-RU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omakh Unicode" panose="02060703080006000000" pitchFamily="18" charset="0"/>
              <a:ea typeface="Monomakh Unicode" panose="02060703080006000000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Задачи теряются в чатах и письмах </a:t>
            </a:r>
          </a:p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Непонятно, кто чем занят</a:t>
            </a:r>
          </a:p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Сроки срываются, сотрудники перегружены</a:t>
            </a:r>
          </a:p>
          <a:p>
            <a:pPr algn="ctr"/>
            <a:endParaRPr lang="ru-RU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omakh Unicode" panose="02060703080006000000" pitchFamily="18" charset="0"/>
              <a:ea typeface="Monomakh Unicode" panose="02060703080006000000" pitchFamily="18" charset="0"/>
            </a:endParaRPr>
          </a:p>
          <a:p>
            <a:pPr algn="ctr"/>
            <a:r>
              <a:rPr lang="ru-RU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Решение: </a:t>
            </a:r>
            <a:r>
              <a: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Один инструмент для планирования, назначения и контроля задач</a:t>
            </a:r>
          </a:p>
        </p:txBody>
      </p:sp>
    </p:spTree>
    <p:extLst>
      <p:ext uri="{BB962C8B-B14F-4D97-AF65-F5344CB8AC3E}">
        <p14:creationId xmlns:p14="http://schemas.microsoft.com/office/powerpoint/2010/main" val="2871298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7E660202-0A40-4F3C-8922-76DE4DE96BD0}"/>
              </a:ext>
            </a:extLst>
          </p:cNvPr>
          <p:cNvGrpSpPr/>
          <p:nvPr/>
        </p:nvGrpSpPr>
        <p:grpSpPr>
          <a:xfrm>
            <a:off x="-8301683" y="430758"/>
            <a:ext cx="46339111" cy="5991227"/>
            <a:chOff x="1169879" y="433386"/>
            <a:chExt cx="46339111" cy="5991227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1B9586A0-9ECE-4D67-B39A-8F879B98BEAB}"/>
                </a:ext>
              </a:extLst>
            </p:cNvPr>
            <p:cNvGrpSpPr/>
            <p:nvPr/>
          </p:nvGrpSpPr>
          <p:grpSpPr>
            <a:xfrm>
              <a:off x="1169879" y="433386"/>
              <a:ext cx="46339111" cy="5991227"/>
              <a:chOff x="1169879" y="433386"/>
              <a:chExt cx="46339111" cy="5991227"/>
            </a:xfrm>
          </p:grpSpPr>
          <p:grpSp>
            <p:nvGrpSpPr>
              <p:cNvPr id="25" name="Группа 24">
                <a:extLst>
                  <a:ext uri="{FF2B5EF4-FFF2-40B4-BE49-F238E27FC236}">
                    <a16:creationId xmlns:a16="http://schemas.microsoft.com/office/drawing/2014/main" id="{C5B96CFA-B66B-4EC5-899D-AB848429D0D3}"/>
                  </a:ext>
                </a:extLst>
              </p:cNvPr>
              <p:cNvGrpSpPr/>
              <p:nvPr/>
            </p:nvGrpSpPr>
            <p:grpSpPr>
              <a:xfrm>
                <a:off x="2032861" y="433386"/>
                <a:ext cx="44609658" cy="5991227"/>
                <a:chOff x="2013857" y="433385"/>
                <a:chExt cx="44609658" cy="5991227"/>
              </a:xfrm>
            </p:grpSpPr>
            <p:pic>
              <p:nvPicPr>
                <p:cNvPr id="33" name="Picture 4" descr="Picture background">
                  <a:extLst>
                    <a:ext uri="{FF2B5EF4-FFF2-40B4-BE49-F238E27FC236}">
                      <a16:creationId xmlns:a16="http://schemas.microsoft.com/office/drawing/2014/main" id="{7C80AD19-B920-475E-9FC6-0219BFB9F56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3857" y="433387"/>
                  <a:ext cx="8164286" cy="59912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4" name="Picture 8" descr="Picture background">
                  <a:extLst>
                    <a:ext uri="{FF2B5EF4-FFF2-40B4-BE49-F238E27FC236}">
                      <a16:creationId xmlns:a16="http://schemas.microsoft.com/office/drawing/2014/main" id="{2F517756-67EC-4979-9CFA-F126BD587B3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125200" y="433386"/>
                  <a:ext cx="8164286" cy="59912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5" name="Picture 10" descr="Picture background">
                  <a:extLst>
                    <a:ext uri="{FF2B5EF4-FFF2-40B4-BE49-F238E27FC236}">
                      <a16:creationId xmlns:a16="http://schemas.microsoft.com/office/drawing/2014/main" id="{663B465B-70F7-48C2-B882-2CCE5EEC88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236543" y="433386"/>
                  <a:ext cx="8164286" cy="59912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6" name="Picture 12" descr="Picture background">
                  <a:extLst>
                    <a:ext uri="{FF2B5EF4-FFF2-40B4-BE49-F238E27FC236}">
                      <a16:creationId xmlns:a16="http://schemas.microsoft.com/office/drawing/2014/main" id="{40BF91E9-AE1D-4F90-A2B6-83D741ED4D0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347886" y="433385"/>
                  <a:ext cx="8164286" cy="59912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7" name="Picture 14" descr="Picture background">
                  <a:extLst>
                    <a:ext uri="{FF2B5EF4-FFF2-40B4-BE49-F238E27FC236}">
                      <a16:creationId xmlns:a16="http://schemas.microsoft.com/office/drawing/2014/main" id="{3F7E358D-3511-45EB-980E-BB790DCD40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459229" y="433385"/>
                  <a:ext cx="8164286" cy="59912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26" name="Рисунок 25">
                <a:extLst>
                  <a:ext uri="{FF2B5EF4-FFF2-40B4-BE49-F238E27FC236}">
                    <a16:creationId xmlns:a16="http://schemas.microsoft.com/office/drawing/2014/main" id="{4BA10F66-91F8-4339-8DA6-660760135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9879" y="3036058"/>
                <a:ext cx="785884" cy="785884"/>
              </a:xfrm>
              <a:prstGeom prst="rect">
                <a:avLst/>
              </a:prstGeom>
            </p:spPr>
          </p:pic>
          <p:pic>
            <p:nvPicPr>
              <p:cNvPr id="27" name="Рисунок 26">
                <a:extLst>
                  <a:ext uri="{FF2B5EF4-FFF2-40B4-BE49-F238E27FC236}">
                    <a16:creationId xmlns:a16="http://schemas.microsoft.com/office/drawing/2014/main" id="{419876E2-F648-4212-AF4C-08C9A5F7C0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77733" y="3036058"/>
                <a:ext cx="785884" cy="785884"/>
              </a:xfrm>
              <a:prstGeom prst="rect">
                <a:avLst/>
              </a:prstGeom>
            </p:spPr>
          </p:pic>
          <p:pic>
            <p:nvPicPr>
              <p:cNvPr id="28" name="Рисунок 27">
                <a:extLst>
                  <a:ext uri="{FF2B5EF4-FFF2-40B4-BE49-F238E27FC236}">
                    <a16:creationId xmlns:a16="http://schemas.microsoft.com/office/drawing/2014/main" id="{724799E1-4899-4145-8AD2-B44FD3F01D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78266" y="3036058"/>
                <a:ext cx="785884" cy="785884"/>
              </a:xfrm>
              <a:prstGeom prst="rect">
                <a:avLst/>
              </a:prstGeom>
            </p:spPr>
          </p:pic>
          <p:pic>
            <p:nvPicPr>
              <p:cNvPr id="29" name="Рисунок 28">
                <a:extLst>
                  <a:ext uri="{FF2B5EF4-FFF2-40B4-BE49-F238E27FC236}">
                    <a16:creationId xmlns:a16="http://schemas.microsoft.com/office/drawing/2014/main" id="{7509366C-0159-4EFA-A086-710F5ABEE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1230" y="3036056"/>
                <a:ext cx="785884" cy="785884"/>
              </a:xfrm>
              <a:prstGeom prst="rect">
                <a:avLst/>
              </a:prstGeom>
            </p:spPr>
          </p:pic>
          <p:pic>
            <p:nvPicPr>
              <p:cNvPr id="30" name="Рисунок 29">
                <a:extLst>
                  <a:ext uri="{FF2B5EF4-FFF2-40B4-BE49-F238E27FC236}">
                    <a16:creationId xmlns:a16="http://schemas.microsoft.com/office/drawing/2014/main" id="{D2D79A44-FCE4-4B90-9AAF-286D498CBF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611762" y="3036056"/>
                <a:ext cx="785884" cy="785884"/>
              </a:xfrm>
              <a:prstGeom prst="rect">
                <a:avLst/>
              </a:prstGeom>
            </p:spPr>
          </p:pic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DD6B7974-2114-4803-B765-ED5198583E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723106" y="3036056"/>
                <a:ext cx="785884" cy="785884"/>
              </a:xfrm>
              <a:prstGeom prst="rect">
                <a:avLst/>
              </a:prstGeom>
            </p:spPr>
          </p:pic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EA5019F-3BF7-4426-B8D7-F1317389469F}"/>
                  </a:ext>
                </a:extLst>
              </p:cNvPr>
              <p:cNvSpPr/>
              <p:nvPr/>
            </p:nvSpPr>
            <p:spPr>
              <a:xfrm>
                <a:off x="2627586" y="1051034"/>
                <a:ext cx="6894786" cy="47506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DBD31D2-0227-4196-B855-B49D655ECAAA}"/>
                </a:ext>
              </a:extLst>
            </p:cNvPr>
            <p:cNvSpPr txBox="1"/>
            <p:nvPr/>
          </p:nvSpPr>
          <p:spPr>
            <a:xfrm>
              <a:off x="2953407" y="1418897"/>
              <a:ext cx="6159062" cy="4093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b="1" i="0" dirty="0">
                  <a:solidFill>
                    <a:srgbClr val="2D3234"/>
                  </a:solidFill>
                  <a:effectLst/>
                  <a:latin typeface="Helvetica" panose="020B0604020202020204" pitchFamily="34" charset="0"/>
                </a:rPr>
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</a:r>
              <a:r>
                <a:rPr lang="ru-RU" sz="2000" b="1" i="0" dirty="0" err="1">
                  <a:solidFill>
                    <a:srgbClr val="2D3234"/>
                  </a:solidFill>
                  <a:effectLst/>
                  <a:latin typeface="Helvetica" panose="020B0604020202020204" pitchFamily="34" charset="0"/>
                </a:rPr>
                <a:t>таск</a:t>
              </a:r>
              <a:r>
                <a:rPr lang="ru-RU" sz="2000" b="1" i="0" dirty="0">
                  <a:solidFill>
                    <a:srgbClr val="2D3234"/>
                  </a:solidFill>
                  <a:effectLst/>
                  <a:latin typeface="Helvetica" panose="020B0604020202020204" pitchFamily="34" charset="0"/>
                </a:rPr>
                <a:t>-менеджер, что это не только способ сделать работу проще, и эффективнее. Поэтому, если хотите знать какой выбрать </a:t>
              </a:r>
              <a:r>
                <a:rPr lang="ru-RU" sz="2000" b="1" i="0" dirty="0" err="1">
                  <a:solidFill>
                    <a:srgbClr val="2D3234"/>
                  </a:solidFill>
                  <a:effectLst/>
                  <a:latin typeface="Helvetica" panose="020B0604020202020204" pitchFamily="34" charset="0"/>
                </a:rPr>
                <a:t>таск</a:t>
              </a:r>
              <a:r>
                <a:rPr lang="ru-RU" sz="2000" b="1" i="0" dirty="0">
                  <a:solidFill>
                    <a:srgbClr val="2D3234"/>
                  </a:solidFill>
                  <a:effectLst/>
                  <a:latin typeface="Helvetica" panose="020B0604020202020204" pitchFamily="34" charset="0"/>
                </a:rPr>
                <a:t> менеджер, что это такое и как правильно использовать — эта статья для вас.</a:t>
              </a:r>
              <a:endParaRPr lang="ru-RU" sz="2000" b="1" dirty="0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58790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7E660202-0A40-4F3C-8922-76DE4DE96BD0}"/>
              </a:ext>
            </a:extLst>
          </p:cNvPr>
          <p:cNvGrpSpPr/>
          <p:nvPr/>
        </p:nvGrpSpPr>
        <p:grpSpPr>
          <a:xfrm>
            <a:off x="-8301683" y="430758"/>
            <a:ext cx="46339111" cy="5991227"/>
            <a:chOff x="1169879" y="433386"/>
            <a:chExt cx="46339111" cy="5991227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1B9586A0-9ECE-4D67-B39A-8F879B98BEAB}"/>
                </a:ext>
              </a:extLst>
            </p:cNvPr>
            <p:cNvGrpSpPr/>
            <p:nvPr/>
          </p:nvGrpSpPr>
          <p:grpSpPr>
            <a:xfrm>
              <a:off x="1169879" y="433386"/>
              <a:ext cx="46339111" cy="5991227"/>
              <a:chOff x="1169879" y="433386"/>
              <a:chExt cx="46339111" cy="5991227"/>
            </a:xfrm>
          </p:grpSpPr>
          <p:grpSp>
            <p:nvGrpSpPr>
              <p:cNvPr id="25" name="Группа 24">
                <a:extLst>
                  <a:ext uri="{FF2B5EF4-FFF2-40B4-BE49-F238E27FC236}">
                    <a16:creationId xmlns:a16="http://schemas.microsoft.com/office/drawing/2014/main" id="{C5B96CFA-B66B-4EC5-899D-AB848429D0D3}"/>
                  </a:ext>
                </a:extLst>
              </p:cNvPr>
              <p:cNvGrpSpPr/>
              <p:nvPr/>
            </p:nvGrpSpPr>
            <p:grpSpPr>
              <a:xfrm>
                <a:off x="2032861" y="433386"/>
                <a:ext cx="44609658" cy="5991227"/>
                <a:chOff x="2013857" y="433385"/>
                <a:chExt cx="44609658" cy="5991227"/>
              </a:xfrm>
            </p:grpSpPr>
            <p:pic>
              <p:nvPicPr>
                <p:cNvPr id="33" name="Picture 4" descr="Picture background">
                  <a:extLst>
                    <a:ext uri="{FF2B5EF4-FFF2-40B4-BE49-F238E27FC236}">
                      <a16:creationId xmlns:a16="http://schemas.microsoft.com/office/drawing/2014/main" id="{7C80AD19-B920-475E-9FC6-0219BFB9F56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3857" y="433387"/>
                  <a:ext cx="8164286" cy="59912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4" name="Picture 8" descr="Picture background">
                  <a:extLst>
                    <a:ext uri="{FF2B5EF4-FFF2-40B4-BE49-F238E27FC236}">
                      <a16:creationId xmlns:a16="http://schemas.microsoft.com/office/drawing/2014/main" id="{2F517756-67EC-4979-9CFA-F126BD587B3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125200" y="433386"/>
                  <a:ext cx="8164286" cy="59912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5" name="Picture 10" descr="Picture background">
                  <a:extLst>
                    <a:ext uri="{FF2B5EF4-FFF2-40B4-BE49-F238E27FC236}">
                      <a16:creationId xmlns:a16="http://schemas.microsoft.com/office/drawing/2014/main" id="{663B465B-70F7-48C2-B882-2CCE5EEC88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236543" y="433386"/>
                  <a:ext cx="8164286" cy="59912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6" name="Picture 12" descr="Picture background">
                  <a:extLst>
                    <a:ext uri="{FF2B5EF4-FFF2-40B4-BE49-F238E27FC236}">
                      <a16:creationId xmlns:a16="http://schemas.microsoft.com/office/drawing/2014/main" id="{40BF91E9-AE1D-4F90-A2B6-83D741ED4D0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347886" y="433385"/>
                  <a:ext cx="8164286" cy="59912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7" name="Picture 14" descr="Picture background">
                  <a:extLst>
                    <a:ext uri="{FF2B5EF4-FFF2-40B4-BE49-F238E27FC236}">
                      <a16:creationId xmlns:a16="http://schemas.microsoft.com/office/drawing/2014/main" id="{3F7E358D-3511-45EB-980E-BB790DCD40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459229" y="433385"/>
                  <a:ext cx="8164286" cy="59912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26" name="Рисунок 25">
                <a:extLst>
                  <a:ext uri="{FF2B5EF4-FFF2-40B4-BE49-F238E27FC236}">
                    <a16:creationId xmlns:a16="http://schemas.microsoft.com/office/drawing/2014/main" id="{4BA10F66-91F8-4339-8DA6-660760135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9879" y="3036058"/>
                <a:ext cx="785884" cy="785884"/>
              </a:xfrm>
              <a:prstGeom prst="rect">
                <a:avLst/>
              </a:prstGeom>
            </p:spPr>
          </p:pic>
          <p:pic>
            <p:nvPicPr>
              <p:cNvPr id="27" name="Рисунок 26">
                <a:extLst>
                  <a:ext uri="{FF2B5EF4-FFF2-40B4-BE49-F238E27FC236}">
                    <a16:creationId xmlns:a16="http://schemas.microsoft.com/office/drawing/2014/main" id="{419876E2-F648-4212-AF4C-08C9A5F7C0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77733" y="3036058"/>
                <a:ext cx="785884" cy="785884"/>
              </a:xfrm>
              <a:prstGeom prst="rect">
                <a:avLst/>
              </a:prstGeom>
            </p:spPr>
          </p:pic>
          <p:pic>
            <p:nvPicPr>
              <p:cNvPr id="28" name="Рисунок 27">
                <a:extLst>
                  <a:ext uri="{FF2B5EF4-FFF2-40B4-BE49-F238E27FC236}">
                    <a16:creationId xmlns:a16="http://schemas.microsoft.com/office/drawing/2014/main" id="{724799E1-4899-4145-8AD2-B44FD3F01D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78266" y="3036058"/>
                <a:ext cx="785884" cy="785884"/>
              </a:xfrm>
              <a:prstGeom prst="rect">
                <a:avLst/>
              </a:prstGeom>
            </p:spPr>
          </p:pic>
          <p:pic>
            <p:nvPicPr>
              <p:cNvPr id="29" name="Рисунок 28">
                <a:extLst>
                  <a:ext uri="{FF2B5EF4-FFF2-40B4-BE49-F238E27FC236}">
                    <a16:creationId xmlns:a16="http://schemas.microsoft.com/office/drawing/2014/main" id="{7509366C-0159-4EFA-A086-710F5ABEE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11230" y="3036056"/>
                <a:ext cx="785884" cy="785884"/>
              </a:xfrm>
              <a:prstGeom prst="rect">
                <a:avLst/>
              </a:prstGeom>
            </p:spPr>
          </p:pic>
          <p:pic>
            <p:nvPicPr>
              <p:cNvPr id="30" name="Рисунок 29">
                <a:extLst>
                  <a:ext uri="{FF2B5EF4-FFF2-40B4-BE49-F238E27FC236}">
                    <a16:creationId xmlns:a16="http://schemas.microsoft.com/office/drawing/2014/main" id="{D2D79A44-FCE4-4B90-9AAF-286D498CBF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611762" y="3036056"/>
                <a:ext cx="785884" cy="785884"/>
              </a:xfrm>
              <a:prstGeom prst="rect">
                <a:avLst/>
              </a:prstGeom>
            </p:spPr>
          </p:pic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DD6B7974-2114-4803-B765-ED5198583E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723106" y="3036056"/>
                <a:ext cx="785884" cy="785884"/>
              </a:xfrm>
              <a:prstGeom prst="rect">
                <a:avLst/>
              </a:prstGeom>
            </p:spPr>
          </p:pic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7EA5019F-3BF7-4426-B8D7-F1317389469F}"/>
                  </a:ext>
                </a:extLst>
              </p:cNvPr>
              <p:cNvSpPr/>
              <p:nvPr/>
            </p:nvSpPr>
            <p:spPr>
              <a:xfrm>
                <a:off x="2627586" y="1051034"/>
                <a:ext cx="6894786" cy="47506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DBD31D2-0227-4196-B855-B49D655ECAAA}"/>
                </a:ext>
              </a:extLst>
            </p:cNvPr>
            <p:cNvSpPr txBox="1"/>
            <p:nvPr/>
          </p:nvSpPr>
          <p:spPr>
            <a:xfrm>
              <a:off x="2953407" y="1418897"/>
              <a:ext cx="6159062" cy="4093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b="1" i="0" dirty="0">
                  <a:solidFill>
                    <a:srgbClr val="2D3234"/>
                  </a:solidFill>
                  <a:effectLst/>
                  <a:latin typeface="Helvetica" panose="020B0604020202020204" pitchFamily="34" charset="0"/>
                </a:rPr>
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</a:r>
              <a:r>
                <a:rPr lang="ru-RU" sz="2000" b="1" i="0" dirty="0" err="1">
                  <a:solidFill>
                    <a:srgbClr val="2D3234"/>
                  </a:solidFill>
                  <a:effectLst/>
                  <a:latin typeface="Helvetica" panose="020B0604020202020204" pitchFamily="34" charset="0"/>
                </a:rPr>
                <a:t>таск</a:t>
              </a:r>
              <a:r>
                <a:rPr lang="ru-RU" sz="2000" b="1" i="0" dirty="0">
                  <a:solidFill>
                    <a:srgbClr val="2D3234"/>
                  </a:solidFill>
                  <a:effectLst/>
                  <a:latin typeface="Helvetica" panose="020B0604020202020204" pitchFamily="34" charset="0"/>
                </a:rPr>
                <a:t>-менеджер, что это не только способ сделать работу проще, и эффективнее. Поэтому, если хотите знать какой выбрать </a:t>
              </a:r>
              <a:r>
                <a:rPr lang="ru-RU" sz="2000" b="1" i="0" dirty="0" err="1">
                  <a:solidFill>
                    <a:srgbClr val="2D3234"/>
                  </a:solidFill>
                  <a:effectLst/>
                  <a:latin typeface="Helvetica" panose="020B0604020202020204" pitchFamily="34" charset="0"/>
                </a:rPr>
                <a:t>таск</a:t>
              </a:r>
              <a:r>
                <a:rPr lang="ru-RU" sz="2000" b="1" i="0" dirty="0">
                  <a:solidFill>
                    <a:srgbClr val="2D3234"/>
                  </a:solidFill>
                  <a:effectLst/>
                  <a:latin typeface="Helvetica" panose="020B0604020202020204" pitchFamily="34" charset="0"/>
                </a:rPr>
                <a:t> менеджер, что это такое и как правильно использовать — эта статья для вас.</a:t>
              </a:r>
              <a:endParaRPr lang="ru-RU" sz="2000" b="1" dirty="0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914257C-BE82-42A3-9D88-9B3D580A0EE5}"/>
              </a:ext>
            </a:extLst>
          </p:cNvPr>
          <p:cNvSpPr/>
          <p:nvPr/>
        </p:nvSpPr>
        <p:spPr>
          <a:xfrm>
            <a:off x="2267368" y="1051034"/>
            <a:ext cx="6894786" cy="47506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1628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FC245C1-6918-470B-878C-C0F22285BD4C}"/>
              </a:ext>
            </a:extLst>
          </p:cNvPr>
          <p:cNvGrpSpPr/>
          <p:nvPr/>
        </p:nvGrpSpPr>
        <p:grpSpPr>
          <a:xfrm>
            <a:off x="-8301683" y="430758"/>
            <a:ext cx="46339111" cy="5991227"/>
            <a:chOff x="-8301683" y="430758"/>
            <a:chExt cx="46339111" cy="5991227"/>
          </a:xfrm>
        </p:grpSpPr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7E660202-0A40-4F3C-8922-76DE4DE96BD0}"/>
                </a:ext>
              </a:extLst>
            </p:cNvPr>
            <p:cNvGrpSpPr/>
            <p:nvPr/>
          </p:nvGrpSpPr>
          <p:grpSpPr>
            <a:xfrm>
              <a:off x="-8301683" y="430758"/>
              <a:ext cx="46339111" cy="5991227"/>
              <a:chOff x="1169879" y="433386"/>
              <a:chExt cx="46339111" cy="5991227"/>
            </a:xfrm>
          </p:grpSpPr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1B9586A0-9ECE-4D67-B39A-8F879B98BEAB}"/>
                  </a:ext>
                </a:extLst>
              </p:cNvPr>
              <p:cNvGrpSpPr/>
              <p:nvPr/>
            </p:nvGrpSpPr>
            <p:grpSpPr>
              <a:xfrm>
                <a:off x="1169879" y="433386"/>
                <a:ext cx="46339111" cy="5991227"/>
                <a:chOff x="1169879" y="433386"/>
                <a:chExt cx="46339111" cy="5991227"/>
              </a:xfrm>
            </p:grpSpPr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C5B96CFA-B66B-4EC5-899D-AB848429D0D3}"/>
                    </a:ext>
                  </a:extLst>
                </p:cNvPr>
                <p:cNvGrpSpPr/>
                <p:nvPr/>
              </p:nvGrpSpPr>
              <p:grpSpPr>
                <a:xfrm>
                  <a:off x="2032861" y="433386"/>
                  <a:ext cx="44609658" cy="5991227"/>
                  <a:chOff x="2013857" y="433385"/>
                  <a:chExt cx="44609658" cy="5991227"/>
                </a:xfrm>
              </p:grpSpPr>
              <p:pic>
                <p:nvPicPr>
                  <p:cNvPr id="33" name="Picture 4" descr="Picture background">
                    <a:extLst>
                      <a:ext uri="{FF2B5EF4-FFF2-40B4-BE49-F238E27FC236}">
                        <a16:creationId xmlns:a16="http://schemas.microsoft.com/office/drawing/2014/main" id="{7C80AD19-B920-475E-9FC6-0219BFB9F56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13857" y="433387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4" name="Picture 8" descr="Picture background">
                    <a:extLst>
                      <a:ext uri="{FF2B5EF4-FFF2-40B4-BE49-F238E27FC236}">
                        <a16:creationId xmlns:a16="http://schemas.microsoft.com/office/drawing/2014/main" id="{2F517756-67EC-4979-9CFA-F126BD587B3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125200" y="433386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5" name="Picture 10" descr="Picture background">
                    <a:extLst>
                      <a:ext uri="{FF2B5EF4-FFF2-40B4-BE49-F238E27FC236}">
                        <a16:creationId xmlns:a16="http://schemas.microsoft.com/office/drawing/2014/main" id="{663B465B-70F7-48C2-B882-2CCE5EEC88A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236543" y="433386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6" name="Picture 12" descr="Picture background">
                    <a:extLst>
                      <a:ext uri="{FF2B5EF4-FFF2-40B4-BE49-F238E27FC236}">
                        <a16:creationId xmlns:a16="http://schemas.microsoft.com/office/drawing/2014/main" id="{40BF91E9-AE1D-4F90-A2B6-83D741ED4D0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347886" y="433385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7" name="Picture 14" descr="Picture background">
                    <a:extLst>
                      <a:ext uri="{FF2B5EF4-FFF2-40B4-BE49-F238E27FC236}">
                        <a16:creationId xmlns:a16="http://schemas.microsoft.com/office/drawing/2014/main" id="{3F7E358D-3511-45EB-980E-BB790DCD407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8459229" y="433385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26" name="Рисунок 25">
                  <a:extLst>
                    <a:ext uri="{FF2B5EF4-FFF2-40B4-BE49-F238E27FC236}">
                      <a16:creationId xmlns:a16="http://schemas.microsoft.com/office/drawing/2014/main" id="{4BA10F66-91F8-4339-8DA6-6607601358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9879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27" name="Рисунок 26">
                  <a:extLst>
                    <a:ext uri="{FF2B5EF4-FFF2-40B4-BE49-F238E27FC236}">
                      <a16:creationId xmlns:a16="http://schemas.microsoft.com/office/drawing/2014/main" id="{419876E2-F648-4212-AF4C-08C9A5F7C0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77733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28" name="Рисунок 27">
                  <a:extLst>
                    <a:ext uri="{FF2B5EF4-FFF2-40B4-BE49-F238E27FC236}">
                      <a16:creationId xmlns:a16="http://schemas.microsoft.com/office/drawing/2014/main" id="{724799E1-4899-4145-8AD2-B44FD3F01D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78266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29" name="Рисунок 28">
                  <a:extLst>
                    <a:ext uri="{FF2B5EF4-FFF2-40B4-BE49-F238E27FC236}">
                      <a16:creationId xmlns:a16="http://schemas.microsoft.com/office/drawing/2014/main" id="{7509366C-0159-4EFA-A086-710F5ABEE3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511230" y="3036056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30" name="Рисунок 29">
                  <a:extLst>
                    <a:ext uri="{FF2B5EF4-FFF2-40B4-BE49-F238E27FC236}">
                      <a16:creationId xmlns:a16="http://schemas.microsoft.com/office/drawing/2014/main" id="{D2D79A44-FCE4-4B90-9AAF-286D498CBF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611762" y="3036056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31" name="Рисунок 30">
                  <a:extLst>
                    <a:ext uri="{FF2B5EF4-FFF2-40B4-BE49-F238E27FC236}">
                      <a16:creationId xmlns:a16="http://schemas.microsoft.com/office/drawing/2014/main" id="{DD6B7974-2114-4803-B765-ED5198583E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723106" y="3036056"/>
                  <a:ext cx="785884" cy="785884"/>
                </a:xfrm>
                <a:prstGeom prst="rect">
                  <a:avLst/>
                </a:prstGeom>
              </p:spPr>
            </p:pic>
            <p:sp>
              <p:nvSpPr>
                <p:cNvPr id="32" name="Прямоугольник 31">
                  <a:extLst>
                    <a:ext uri="{FF2B5EF4-FFF2-40B4-BE49-F238E27FC236}">
                      <a16:creationId xmlns:a16="http://schemas.microsoft.com/office/drawing/2014/main" id="{7EA5019F-3BF7-4426-B8D7-F1317389469F}"/>
                    </a:ext>
                  </a:extLst>
                </p:cNvPr>
                <p:cNvSpPr/>
                <p:nvPr/>
              </p:nvSpPr>
              <p:spPr>
                <a:xfrm>
                  <a:off x="2627586" y="1051034"/>
                  <a:ext cx="6894786" cy="4750676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BD31D2-0227-4196-B855-B49D655ECAAA}"/>
                  </a:ext>
                </a:extLst>
              </p:cNvPr>
              <p:cNvSpPr txBox="1"/>
              <p:nvPr/>
            </p:nvSpPr>
            <p:spPr>
              <a:xfrm>
                <a:off x="2953407" y="1418897"/>
                <a:ext cx="615906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  </a:r>
                <a:r>
                  <a:rPr lang="ru-RU" sz="2000" b="1" i="0" dirty="0" err="1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</a:t>
                </a:r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-менеджер, что это не только способ сделать работу проще, и эффективнее. Поэтому, если хотите знать какой выбрать </a:t>
                </a:r>
                <a:r>
                  <a:rPr lang="ru-RU" sz="2000" b="1" i="0" dirty="0" err="1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</a:t>
                </a:r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 менеджер, что это такое и как правильно использовать — эта статья для вас.</a:t>
                </a:r>
                <a:endParaRPr lang="ru-RU" sz="2000" b="1" dirty="0"/>
              </a:p>
            </p:txBody>
          </p:sp>
        </p:grp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8C9C3C53-9EF0-43E1-8547-E7AB44A90B61}"/>
                </a:ext>
              </a:extLst>
            </p:cNvPr>
            <p:cNvSpPr/>
            <p:nvPr/>
          </p:nvSpPr>
          <p:spPr>
            <a:xfrm>
              <a:off x="2307392" y="1087645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7DD4564-525E-4819-B4C5-CC19FA0F7C95}"/>
                </a:ext>
              </a:extLst>
            </p:cNvPr>
            <p:cNvSpPr txBox="1"/>
            <p:nvPr/>
          </p:nvSpPr>
          <p:spPr>
            <a:xfrm>
              <a:off x="2675254" y="1146336"/>
              <a:ext cx="6159062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ВСЕ В ОДНОМ ОКНЕ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Все задачи – в единой таблице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Фильтры по статусы, автору, исполнителю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Кнопка «Создать задачу» – 10 секунд на постановку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Удобно менеджеру, понятно сотруднику </a:t>
              </a:r>
            </a:p>
            <a:p>
              <a:pPr algn="ctr"/>
              <a:endPara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endParaRPr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631207B4-D07A-4C1C-855F-B5F7A7EAC7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59" t="1272" r="24737" b="55953"/>
            <a:stretch/>
          </p:blipFill>
          <p:spPr>
            <a:xfrm>
              <a:off x="2826192" y="2952819"/>
              <a:ext cx="6008124" cy="2708969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845433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20076AAA-E642-437D-A3DA-775D3C6EE853}"/>
              </a:ext>
            </a:extLst>
          </p:cNvPr>
          <p:cNvGrpSpPr/>
          <p:nvPr/>
        </p:nvGrpSpPr>
        <p:grpSpPr>
          <a:xfrm>
            <a:off x="-17414771" y="428130"/>
            <a:ext cx="46339111" cy="5991227"/>
            <a:chOff x="-8301683" y="430758"/>
            <a:chExt cx="46339111" cy="5991227"/>
          </a:xfrm>
        </p:grpSpPr>
        <p:grpSp>
          <p:nvGrpSpPr>
            <p:cNvPr id="41" name="Группа 40">
              <a:extLst>
                <a:ext uri="{FF2B5EF4-FFF2-40B4-BE49-F238E27FC236}">
                  <a16:creationId xmlns:a16="http://schemas.microsoft.com/office/drawing/2014/main" id="{4B03EA14-EE59-4D0D-8E94-5F4EE5EE45CD}"/>
                </a:ext>
              </a:extLst>
            </p:cNvPr>
            <p:cNvGrpSpPr/>
            <p:nvPr/>
          </p:nvGrpSpPr>
          <p:grpSpPr>
            <a:xfrm>
              <a:off x="-8301683" y="430758"/>
              <a:ext cx="46339111" cy="5991227"/>
              <a:chOff x="1169879" y="433386"/>
              <a:chExt cx="46339111" cy="5991227"/>
            </a:xfrm>
          </p:grpSpPr>
          <p:grpSp>
            <p:nvGrpSpPr>
              <p:cNvPr id="45" name="Группа 44">
                <a:extLst>
                  <a:ext uri="{FF2B5EF4-FFF2-40B4-BE49-F238E27FC236}">
                    <a16:creationId xmlns:a16="http://schemas.microsoft.com/office/drawing/2014/main" id="{91255AF2-17E4-4B36-A83C-8D8539C65416}"/>
                  </a:ext>
                </a:extLst>
              </p:cNvPr>
              <p:cNvGrpSpPr/>
              <p:nvPr/>
            </p:nvGrpSpPr>
            <p:grpSpPr>
              <a:xfrm>
                <a:off x="1169879" y="433386"/>
                <a:ext cx="46339111" cy="5991227"/>
                <a:chOff x="1169879" y="433386"/>
                <a:chExt cx="46339111" cy="5991227"/>
              </a:xfrm>
            </p:grpSpPr>
            <p:grpSp>
              <p:nvGrpSpPr>
                <p:cNvPr id="47" name="Группа 46">
                  <a:extLst>
                    <a:ext uri="{FF2B5EF4-FFF2-40B4-BE49-F238E27FC236}">
                      <a16:creationId xmlns:a16="http://schemas.microsoft.com/office/drawing/2014/main" id="{FD2B3B00-508C-4977-83C6-9898947D8835}"/>
                    </a:ext>
                  </a:extLst>
                </p:cNvPr>
                <p:cNvGrpSpPr/>
                <p:nvPr/>
              </p:nvGrpSpPr>
              <p:grpSpPr>
                <a:xfrm>
                  <a:off x="2032861" y="433386"/>
                  <a:ext cx="44609658" cy="5991227"/>
                  <a:chOff x="2013857" y="433385"/>
                  <a:chExt cx="44609658" cy="5991227"/>
                </a:xfrm>
              </p:grpSpPr>
              <p:pic>
                <p:nvPicPr>
                  <p:cNvPr id="55" name="Picture 4" descr="Picture background">
                    <a:extLst>
                      <a:ext uri="{FF2B5EF4-FFF2-40B4-BE49-F238E27FC236}">
                        <a16:creationId xmlns:a16="http://schemas.microsoft.com/office/drawing/2014/main" id="{C10F4B65-6058-40AF-9A6C-52E5F34EA67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13857" y="433387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6" name="Picture 8" descr="Picture background">
                    <a:extLst>
                      <a:ext uri="{FF2B5EF4-FFF2-40B4-BE49-F238E27FC236}">
                        <a16:creationId xmlns:a16="http://schemas.microsoft.com/office/drawing/2014/main" id="{4440DD00-0903-43E6-9F52-6542ED6A5CE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125200" y="433386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" name="Picture 10" descr="Picture background">
                    <a:extLst>
                      <a:ext uri="{FF2B5EF4-FFF2-40B4-BE49-F238E27FC236}">
                        <a16:creationId xmlns:a16="http://schemas.microsoft.com/office/drawing/2014/main" id="{408B2AB2-B9FE-46C7-8E62-BFABD27C05F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236543" y="433386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" name="Picture 12" descr="Picture background">
                    <a:extLst>
                      <a:ext uri="{FF2B5EF4-FFF2-40B4-BE49-F238E27FC236}">
                        <a16:creationId xmlns:a16="http://schemas.microsoft.com/office/drawing/2014/main" id="{8DBF4032-A8CE-4B39-A01E-34FA91FE921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347886" y="433385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9" name="Picture 14" descr="Picture background">
                    <a:extLst>
                      <a:ext uri="{FF2B5EF4-FFF2-40B4-BE49-F238E27FC236}">
                        <a16:creationId xmlns:a16="http://schemas.microsoft.com/office/drawing/2014/main" id="{B525BD2C-40C3-462B-9F97-393D79CD6AF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8459229" y="433385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48" name="Рисунок 47">
                  <a:extLst>
                    <a:ext uri="{FF2B5EF4-FFF2-40B4-BE49-F238E27FC236}">
                      <a16:creationId xmlns:a16="http://schemas.microsoft.com/office/drawing/2014/main" id="{C673EF50-1711-4CC1-BB78-5C4ADE7375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9879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49" name="Рисунок 48">
                  <a:extLst>
                    <a:ext uri="{FF2B5EF4-FFF2-40B4-BE49-F238E27FC236}">
                      <a16:creationId xmlns:a16="http://schemas.microsoft.com/office/drawing/2014/main" id="{96D07715-ED53-4254-9A8A-F6E00C5AC3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77733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0" name="Рисунок 49">
                  <a:extLst>
                    <a:ext uri="{FF2B5EF4-FFF2-40B4-BE49-F238E27FC236}">
                      <a16:creationId xmlns:a16="http://schemas.microsoft.com/office/drawing/2014/main" id="{5B783C32-6764-4DD8-A8D7-9007609948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78266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1" name="Рисунок 50">
                  <a:extLst>
                    <a:ext uri="{FF2B5EF4-FFF2-40B4-BE49-F238E27FC236}">
                      <a16:creationId xmlns:a16="http://schemas.microsoft.com/office/drawing/2014/main" id="{1DAEE173-B937-438D-90E3-A021D4B24D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511230" y="3036056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2" name="Рисунок 51">
                  <a:extLst>
                    <a:ext uri="{FF2B5EF4-FFF2-40B4-BE49-F238E27FC236}">
                      <a16:creationId xmlns:a16="http://schemas.microsoft.com/office/drawing/2014/main" id="{46C8B91C-E5AD-461F-B9F8-EC71BDFBF2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611762" y="3036056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3" name="Рисунок 52">
                  <a:extLst>
                    <a:ext uri="{FF2B5EF4-FFF2-40B4-BE49-F238E27FC236}">
                      <a16:creationId xmlns:a16="http://schemas.microsoft.com/office/drawing/2014/main" id="{5FC3C70B-A111-4973-ABE5-DBC60B52D9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723106" y="3036056"/>
                  <a:ext cx="785884" cy="785884"/>
                </a:xfrm>
                <a:prstGeom prst="rect">
                  <a:avLst/>
                </a:prstGeom>
              </p:spPr>
            </p:pic>
            <p:sp>
              <p:nvSpPr>
                <p:cNvPr id="54" name="Прямоугольник 53">
                  <a:extLst>
                    <a:ext uri="{FF2B5EF4-FFF2-40B4-BE49-F238E27FC236}">
                      <a16:creationId xmlns:a16="http://schemas.microsoft.com/office/drawing/2014/main" id="{1834C4F9-B7CC-4A03-9F58-4C6942310D5E}"/>
                    </a:ext>
                  </a:extLst>
                </p:cNvPr>
                <p:cNvSpPr/>
                <p:nvPr/>
              </p:nvSpPr>
              <p:spPr>
                <a:xfrm>
                  <a:off x="2627586" y="1051034"/>
                  <a:ext cx="6894786" cy="4750676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5F02EE-DE11-4822-A93E-D9EF47A5BC6A}"/>
                  </a:ext>
                </a:extLst>
              </p:cNvPr>
              <p:cNvSpPr txBox="1"/>
              <p:nvPr/>
            </p:nvSpPr>
            <p:spPr>
              <a:xfrm>
                <a:off x="2953407" y="1418897"/>
                <a:ext cx="615906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  </a:r>
                <a:r>
                  <a:rPr lang="ru-RU" sz="2000" b="1" i="0" dirty="0" err="1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</a:t>
                </a:r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-менеджер, что это не только способ сделать работу проще, и эффективнее. Поэтому, если хотите знать какой выбрать </a:t>
                </a:r>
                <a:r>
                  <a:rPr lang="ru-RU" sz="2000" b="1" i="0" dirty="0" err="1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</a:t>
                </a:r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 менеджер, что это такое и как правильно использовать — эта статья для вас.</a:t>
                </a:r>
                <a:endParaRPr lang="ru-RU" sz="2000" b="1" dirty="0"/>
              </a:p>
            </p:txBody>
          </p:sp>
        </p:grp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AF17790C-529A-4EE6-87B9-035FF6871206}"/>
                </a:ext>
              </a:extLst>
            </p:cNvPr>
            <p:cNvSpPr/>
            <p:nvPr/>
          </p:nvSpPr>
          <p:spPr>
            <a:xfrm>
              <a:off x="2307392" y="1087645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618CE1-C20F-4211-9BDE-359FCBC4AC70}"/>
                </a:ext>
              </a:extLst>
            </p:cNvPr>
            <p:cNvSpPr txBox="1"/>
            <p:nvPr/>
          </p:nvSpPr>
          <p:spPr>
            <a:xfrm>
              <a:off x="2675254" y="1146336"/>
              <a:ext cx="6159062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ВСЕ В ОДНОМ ОКНЕ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Все задачи – в единой таблице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Фильтры по статусы, автору, исполнителю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Кнопка «Создать задачу» – 10 секунд на постановку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Удобно менеджеру, понятно сотруднику </a:t>
              </a:r>
            </a:p>
            <a:p>
              <a:pPr algn="ctr"/>
              <a:endPara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endParaRPr>
            </a:p>
          </p:txBody>
        </p:sp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E32368E9-72E2-4BEE-B065-0057FD9227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59" t="1272" r="24737" b="55953"/>
            <a:stretch/>
          </p:blipFill>
          <p:spPr>
            <a:xfrm>
              <a:off x="2826192" y="2952819"/>
              <a:ext cx="6008124" cy="2708969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83644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20076AAA-E642-437D-A3DA-775D3C6EE853}"/>
              </a:ext>
            </a:extLst>
          </p:cNvPr>
          <p:cNvGrpSpPr/>
          <p:nvPr/>
        </p:nvGrpSpPr>
        <p:grpSpPr>
          <a:xfrm>
            <a:off x="-17414771" y="428130"/>
            <a:ext cx="46339111" cy="5991227"/>
            <a:chOff x="-8301683" y="430758"/>
            <a:chExt cx="46339111" cy="5991227"/>
          </a:xfrm>
        </p:grpSpPr>
        <p:grpSp>
          <p:nvGrpSpPr>
            <p:cNvPr id="41" name="Группа 40">
              <a:extLst>
                <a:ext uri="{FF2B5EF4-FFF2-40B4-BE49-F238E27FC236}">
                  <a16:creationId xmlns:a16="http://schemas.microsoft.com/office/drawing/2014/main" id="{4B03EA14-EE59-4D0D-8E94-5F4EE5EE45CD}"/>
                </a:ext>
              </a:extLst>
            </p:cNvPr>
            <p:cNvGrpSpPr/>
            <p:nvPr/>
          </p:nvGrpSpPr>
          <p:grpSpPr>
            <a:xfrm>
              <a:off x="-8301683" y="430758"/>
              <a:ext cx="46339111" cy="5991227"/>
              <a:chOff x="1169879" y="433386"/>
              <a:chExt cx="46339111" cy="5991227"/>
            </a:xfrm>
          </p:grpSpPr>
          <p:grpSp>
            <p:nvGrpSpPr>
              <p:cNvPr id="45" name="Группа 44">
                <a:extLst>
                  <a:ext uri="{FF2B5EF4-FFF2-40B4-BE49-F238E27FC236}">
                    <a16:creationId xmlns:a16="http://schemas.microsoft.com/office/drawing/2014/main" id="{91255AF2-17E4-4B36-A83C-8D8539C65416}"/>
                  </a:ext>
                </a:extLst>
              </p:cNvPr>
              <p:cNvGrpSpPr/>
              <p:nvPr/>
            </p:nvGrpSpPr>
            <p:grpSpPr>
              <a:xfrm>
                <a:off x="1169879" y="433386"/>
                <a:ext cx="46339111" cy="5991227"/>
                <a:chOff x="1169879" y="433386"/>
                <a:chExt cx="46339111" cy="5991227"/>
              </a:xfrm>
            </p:grpSpPr>
            <p:grpSp>
              <p:nvGrpSpPr>
                <p:cNvPr id="47" name="Группа 46">
                  <a:extLst>
                    <a:ext uri="{FF2B5EF4-FFF2-40B4-BE49-F238E27FC236}">
                      <a16:creationId xmlns:a16="http://schemas.microsoft.com/office/drawing/2014/main" id="{FD2B3B00-508C-4977-83C6-9898947D8835}"/>
                    </a:ext>
                  </a:extLst>
                </p:cNvPr>
                <p:cNvGrpSpPr/>
                <p:nvPr/>
              </p:nvGrpSpPr>
              <p:grpSpPr>
                <a:xfrm>
                  <a:off x="2032861" y="433386"/>
                  <a:ext cx="44609658" cy="5991227"/>
                  <a:chOff x="2013857" y="433385"/>
                  <a:chExt cx="44609658" cy="5991227"/>
                </a:xfrm>
              </p:grpSpPr>
              <p:pic>
                <p:nvPicPr>
                  <p:cNvPr id="55" name="Picture 4" descr="Picture background">
                    <a:extLst>
                      <a:ext uri="{FF2B5EF4-FFF2-40B4-BE49-F238E27FC236}">
                        <a16:creationId xmlns:a16="http://schemas.microsoft.com/office/drawing/2014/main" id="{C10F4B65-6058-40AF-9A6C-52E5F34EA67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13857" y="433387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6" name="Picture 8" descr="Picture background">
                    <a:extLst>
                      <a:ext uri="{FF2B5EF4-FFF2-40B4-BE49-F238E27FC236}">
                        <a16:creationId xmlns:a16="http://schemas.microsoft.com/office/drawing/2014/main" id="{4440DD00-0903-43E6-9F52-6542ED6A5CE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125200" y="433386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" name="Picture 10" descr="Picture background">
                    <a:extLst>
                      <a:ext uri="{FF2B5EF4-FFF2-40B4-BE49-F238E27FC236}">
                        <a16:creationId xmlns:a16="http://schemas.microsoft.com/office/drawing/2014/main" id="{408B2AB2-B9FE-46C7-8E62-BFABD27C05F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236543" y="433386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" name="Picture 12" descr="Picture background">
                    <a:extLst>
                      <a:ext uri="{FF2B5EF4-FFF2-40B4-BE49-F238E27FC236}">
                        <a16:creationId xmlns:a16="http://schemas.microsoft.com/office/drawing/2014/main" id="{8DBF4032-A8CE-4B39-A01E-34FA91FE921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347886" y="433385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9" name="Picture 14" descr="Picture background">
                    <a:extLst>
                      <a:ext uri="{FF2B5EF4-FFF2-40B4-BE49-F238E27FC236}">
                        <a16:creationId xmlns:a16="http://schemas.microsoft.com/office/drawing/2014/main" id="{B525BD2C-40C3-462B-9F97-393D79CD6AF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8459229" y="433385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48" name="Рисунок 47">
                  <a:extLst>
                    <a:ext uri="{FF2B5EF4-FFF2-40B4-BE49-F238E27FC236}">
                      <a16:creationId xmlns:a16="http://schemas.microsoft.com/office/drawing/2014/main" id="{C673EF50-1711-4CC1-BB78-5C4ADE7375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9879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49" name="Рисунок 48">
                  <a:extLst>
                    <a:ext uri="{FF2B5EF4-FFF2-40B4-BE49-F238E27FC236}">
                      <a16:creationId xmlns:a16="http://schemas.microsoft.com/office/drawing/2014/main" id="{96D07715-ED53-4254-9A8A-F6E00C5AC3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77733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0" name="Рисунок 49">
                  <a:extLst>
                    <a:ext uri="{FF2B5EF4-FFF2-40B4-BE49-F238E27FC236}">
                      <a16:creationId xmlns:a16="http://schemas.microsoft.com/office/drawing/2014/main" id="{5B783C32-6764-4DD8-A8D7-9007609948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78266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1" name="Рисунок 50">
                  <a:extLst>
                    <a:ext uri="{FF2B5EF4-FFF2-40B4-BE49-F238E27FC236}">
                      <a16:creationId xmlns:a16="http://schemas.microsoft.com/office/drawing/2014/main" id="{1DAEE173-B937-438D-90E3-A021D4B24D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511230" y="3036056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2" name="Рисунок 51">
                  <a:extLst>
                    <a:ext uri="{FF2B5EF4-FFF2-40B4-BE49-F238E27FC236}">
                      <a16:creationId xmlns:a16="http://schemas.microsoft.com/office/drawing/2014/main" id="{46C8B91C-E5AD-461F-B9F8-EC71BDFBF2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611762" y="3036056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3" name="Рисунок 52">
                  <a:extLst>
                    <a:ext uri="{FF2B5EF4-FFF2-40B4-BE49-F238E27FC236}">
                      <a16:creationId xmlns:a16="http://schemas.microsoft.com/office/drawing/2014/main" id="{5FC3C70B-A111-4973-ABE5-DBC60B52D9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723106" y="3036056"/>
                  <a:ext cx="785884" cy="785884"/>
                </a:xfrm>
                <a:prstGeom prst="rect">
                  <a:avLst/>
                </a:prstGeom>
              </p:spPr>
            </p:pic>
            <p:sp>
              <p:nvSpPr>
                <p:cNvPr id="54" name="Прямоугольник 53">
                  <a:extLst>
                    <a:ext uri="{FF2B5EF4-FFF2-40B4-BE49-F238E27FC236}">
                      <a16:creationId xmlns:a16="http://schemas.microsoft.com/office/drawing/2014/main" id="{1834C4F9-B7CC-4A03-9F58-4C6942310D5E}"/>
                    </a:ext>
                  </a:extLst>
                </p:cNvPr>
                <p:cNvSpPr/>
                <p:nvPr/>
              </p:nvSpPr>
              <p:spPr>
                <a:xfrm>
                  <a:off x="2627586" y="1051034"/>
                  <a:ext cx="6894786" cy="4750676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5F02EE-DE11-4822-A93E-D9EF47A5BC6A}"/>
                  </a:ext>
                </a:extLst>
              </p:cNvPr>
              <p:cNvSpPr txBox="1"/>
              <p:nvPr/>
            </p:nvSpPr>
            <p:spPr>
              <a:xfrm>
                <a:off x="2953407" y="1418897"/>
                <a:ext cx="615906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  </a:r>
                <a:r>
                  <a:rPr lang="ru-RU" sz="2000" b="1" i="0" dirty="0" err="1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</a:t>
                </a:r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-менеджер, что это не только способ сделать работу проще, и эффективнее. Поэтому, если хотите знать какой выбрать </a:t>
                </a:r>
                <a:r>
                  <a:rPr lang="ru-RU" sz="2000" b="1" i="0" dirty="0" err="1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</a:t>
                </a:r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 менеджер, что это такое и как правильно использовать — эта статья для вас.</a:t>
                </a:r>
                <a:endParaRPr lang="ru-RU" sz="2000" b="1" dirty="0"/>
              </a:p>
            </p:txBody>
          </p:sp>
        </p:grp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AF17790C-529A-4EE6-87B9-035FF6871206}"/>
                </a:ext>
              </a:extLst>
            </p:cNvPr>
            <p:cNvSpPr/>
            <p:nvPr/>
          </p:nvSpPr>
          <p:spPr>
            <a:xfrm>
              <a:off x="2307392" y="1087645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618CE1-C20F-4211-9BDE-359FCBC4AC70}"/>
                </a:ext>
              </a:extLst>
            </p:cNvPr>
            <p:cNvSpPr txBox="1"/>
            <p:nvPr/>
          </p:nvSpPr>
          <p:spPr>
            <a:xfrm>
              <a:off x="2675254" y="1146336"/>
              <a:ext cx="6159062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ВСЕ В ОДНОМ ОКНЕ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Все задачи – в единой таблице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Фильтры по статусы, автору, исполнителю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Кнопка «Создать задачу» – 10 секунд на постановку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Удобно менеджеру, понятно сотруднику </a:t>
              </a:r>
            </a:p>
            <a:p>
              <a:pPr algn="ctr"/>
              <a:endPara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endParaRPr>
            </a:p>
          </p:txBody>
        </p:sp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E32368E9-72E2-4BEE-B065-0057FD9227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59" t="1272" r="24737" b="55953"/>
            <a:stretch/>
          </p:blipFill>
          <p:spPr>
            <a:xfrm>
              <a:off x="2826192" y="2952819"/>
              <a:ext cx="6008124" cy="2708969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C7FEC20-B0CB-4C87-BED6-7351463945F2}"/>
              </a:ext>
            </a:extLst>
          </p:cNvPr>
          <p:cNvSpPr/>
          <p:nvPr/>
        </p:nvSpPr>
        <p:spPr>
          <a:xfrm>
            <a:off x="2267368" y="1051034"/>
            <a:ext cx="6894786" cy="47506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029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20076AAA-E642-437D-A3DA-775D3C6EE853}"/>
              </a:ext>
            </a:extLst>
          </p:cNvPr>
          <p:cNvGrpSpPr/>
          <p:nvPr/>
        </p:nvGrpSpPr>
        <p:grpSpPr>
          <a:xfrm>
            <a:off x="-17414771" y="428130"/>
            <a:ext cx="46339111" cy="5991227"/>
            <a:chOff x="-8301683" y="430758"/>
            <a:chExt cx="46339111" cy="5991227"/>
          </a:xfrm>
        </p:grpSpPr>
        <p:grpSp>
          <p:nvGrpSpPr>
            <p:cNvPr id="41" name="Группа 40">
              <a:extLst>
                <a:ext uri="{FF2B5EF4-FFF2-40B4-BE49-F238E27FC236}">
                  <a16:creationId xmlns:a16="http://schemas.microsoft.com/office/drawing/2014/main" id="{4B03EA14-EE59-4D0D-8E94-5F4EE5EE45CD}"/>
                </a:ext>
              </a:extLst>
            </p:cNvPr>
            <p:cNvGrpSpPr/>
            <p:nvPr/>
          </p:nvGrpSpPr>
          <p:grpSpPr>
            <a:xfrm>
              <a:off x="-8301683" y="430758"/>
              <a:ext cx="46339111" cy="5991227"/>
              <a:chOff x="1169879" y="433386"/>
              <a:chExt cx="46339111" cy="5991227"/>
            </a:xfrm>
          </p:grpSpPr>
          <p:grpSp>
            <p:nvGrpSpPr>
              <p:cNvPr id="45" name="Группа 44">
                <a:extLst>
                  <a:ext uri="{FF2B5EF4-FFF2-40B4-BE49-F238E27FC236}">
                    <a16:creationId xmlns:a16="http://schemas.microsoft.com/office/drawing/2014/main" id="{91255AF2-17E4-4B36-A83C-8D8539C65416}"/>
                  </a:ext>
                </a:extLst>
              </p:cNvPr>
              <p:cNvGrpSpPr/>
              <p:nvPr/>
            </p:nvGrpSpPr>
            <p:grpSpPr>
              <a:xfrm>
                <a:off x="1169879" y="433386"/>
                <a:ext cx="46339111" cy="5991227"/>
                <a:chOff x="1169879" y="433386"/>
                <a:chExt cx="46339111" cy="5991227"/>
              </a:xfrm>
            </p:grpSpPr>
            <p:grpSp>
              <p:nvGrpSpPr>
                <p:cNvPr id="47" name="Группа 46">
                  <a:extLst>
                    <a:ext uri="{FF2B5EF4-FFF2-40B4-BE49-F238E27FC236}">
                      <a16:creationId xmlns:a16="http://schemas.microsoft.com/office/drawing/2014/main" id="{FD2B3B00-508C-4977-83C6-9898947D8835}"/>
                    </a:ext>
                  </a:extLst>
                </p:cNvPr>
                <p:cNvGrpSpPr/>
                <p:nvPr/>
              </p:nvGrpSpPr>
              <p:grpSpPr>
                <a:xfrm>
                  <a:off x="2032861" y="433386"/>
                  <a:ext cx="44609658" cy="5991227"/>
                  <a:chOff x="2013857" y="433385"/>
                  <a:chExt cx="44609658" cy="5991227"/>
                </a:xfrm>
              </p:grpSpPr>
              <p:pic>
                <p:nvPicPr>
                  <p:cNvPr id="55" name="Picture 4" descr="Picture background">
                    <a:extLst>
                      <a:ext uri="{FF2B5EF4-FFF2-40B4-BE49-F238E27FC236}">
                        <a16:creationId xmlns:a16="http://schemas.microsoft.com/office/drawing/2014/main" id="{C10F4B65-6058-40AF-9A6C-52E5F34EA67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13857" y="433387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6" name="Picture 8" descr="Picture background">
                    <a:extLst>
                      <a:ext uri="{FF2B5EF4-FFF2-40B4-BE49-F238E27FC236}">
                        <a16:creationId xmlns:a16="http://schemas.microsoft.com/office/drawing/2014/main" id="{4440DD00-0903-43E6-9F52-6542ED6A5CE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125200" y="433386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" name="Picture 10" descr="Picture background">
                    <a:extLst>
                      <a:ext uri="{FF2B5EF4-FFF2-40B4-BE49-F238E27FC236}">
                        <a16:creationId xmlns:a16="http://schemas.microsoft.com/office/drawing/2014/main" id="{408B2AB2-B9FE-46C7-8E62-BFABD27C05F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236543" y="433386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" name="Picture 12" descr="Picture background">
                    <a:extLst>
                      <a:ext uri="{FF2B5EF4-FFF2-40B4-BE49-F238E27FC236}">
                        <a16:creationId xmlns:a16="http://schemas.microsoft.com/office/drawing/2014/main" id="{8DBF4032-A8CE-4B39-A01E-34FA91FE921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347886" y="433385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9" name="Picture 14" descr="Picture background">
                    <a:extLst>
                      <a:ext uri="{FF2B5EF4-FFF2-40B4-BE49-F238E27FC236}">
                        <a16:creationId xmlns:a16="http://schemas.microsoft.com/office/drawing/2014/main" id="{B525BD2C-40C3-462B-9F97-393D79CD6AF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8459229" y="433385"/>
                    <a:ext cx="8164286" cy="59912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48" name="Рисунок 47">
                  <a:extLst>
                    <a:ext uri="{FF2B5EF4-FFF2-40B4-BE49-F238E27FC236}">
                      <a16:creationId xmlns:a16="http://schemas.microsoft.com/office/drawing/2014/main" id="{C673EF50-1711-4CC1-BB78-5C4ADE7375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9879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49" name="Рисунок 48">
                  <a:extLst>
                    <a:ext uri="{FF2B5EF4-FFF2-40B4-BE49-F238E27FC236}">
                      <a16:creationId xmlns:a16="http://schemas.microsoft.com/office/drawing/2014/main" id="{96D07715-ED53-4254-9A8A-F6E00C5AC3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77733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0" name="Рисунок 49">
                  <a:extLst>
                    <a:ext uri="{FF2B5EF4-FFF2-40B4-BE49-F238E27FC236}">
                      <a16:creationId xmlns:a16="http://schemas.microsoft.com/office/drawing/2014/main" id="{5B783C32-6764-4DD8-A8D7-9007609948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78266" y="3036058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1" name="Рисунок 50">
                  <a:extLst>
                    <a:ext uri="{FF2B5EF4-FFF2-40B4-BE49-F238E27FC236}">
                      <a16:creationId xmlns:a16="http://schemas.microsoft.com/office/drawing/2014/main" id="{1DAEE173-B937-438D-90E3-A021D4B24D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511230" y="3036056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2" name="Рисунок 51">
                  <a:extLst>
                    <a:ext uri="{FF2B5EF4-FFF2-40B4-BE49-F238E27FC236}">
                      <a16:creationId xmlns:a16="http://schemas.microsoft.com/office/drawing/2014/main" id="{46C8B91C-E5AD-461F-B9F8-EC71BDFBF2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611762" y="3036056"/>
                  <a:ext cx="785884" cy="785884"/>
                </a:xfrm>
                <a:prstGeom prst="rect">
                  <a:avLst/>
                </a:prstGeom>
              </p:spPr>
            </p:pic>
            <p:pic>
              <p:nvPicPr>
                <p:cNvPr id="53" name="Рисунок 52">
                  <a:extLst>
                    <a:ext uri="{FF2B5EF4-FFF2-40B4-BE49-F238E27FC236}">
                      <a16:creationId xmlns:a16="http://schemas.microsoft.com/office/drawing/2014/main" id="{5FC3C70B-A111-4973-ABE5-DBC60B52D9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723106" y="3036056"/>
                  <a:ext cx="785884" cy="785884"/>
                </a:xfrm>
                <a:prstGeom prst="rect">
                  <a:avLst/>
                </a:prstGeom>
              </p:spPr>
            </p:pic>
            <p:sp>
              <p:nvSpPr>
                <p:cNvPr id="54" name="Прямоугольник 53">
                  <a:extLst>
                    <a:ext uri="{FF2B5EF4-FFF2-40B4-BE49-F238E27FC236}">
                      <a16:creationId xmlns:a16="http://schemas.microsoft.com/office/drawing/2014/main" id="{1834C4F9-B7CC-4A03-9F58-4C6942310D5E}"/>
                    </a:ext>
                  </a:extLst>
                </p:cNvPr>
                <p:cNvSpPr/>
                <p:nvPr/>
              </p:nvSpPr>
              <p:spPr>
                <a:xfrm>
                  <a:off x="2627586" y="1051034"/>
                  <a:ext cx="6894786" cy="4750676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5F02EE-DE11-4822-A93E-D9EF47A5BC6A}"/>
                  </a:ext>
                </a:extLst>
              </p:cNvPr>
              <p:cNvSpPr txBox="1"/>
              <p:nvPr/>
            </p:nvSpPr>
            <p:spPr>
              <a:xfrm>
                <a:off x="2953407" y="1418897"/>
                <a:ext cx="615906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  </a:r>
                <a:r>
                  <a:rPr lang="ru-RU" sz="2000" b="1" i="0" dirty="0" err="1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</a:t>
                </a:r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-менеджер, что это не только способ сделать работу проще, и эффективнее. Поэтому, если хотите знать какой выбрать </a:t>
                </a:r>
                <a:r>
                  <a:rPr lang="ru-RU" sz="2000" b="1" i="0" dirty="0" err="1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таск</a:t>
                </a:r>
                <a:r>
                  <a:rPr lang="ru-RU" sz="2000" b="1" i="0" dirty="0">
                    <a:solidFill>
                      <a:srgbClr val="2D3234"/>
                    </a:solidFill>
                    <a:effectLst/>
                    <a:latin typeface="Helvetica" panose="020B0604020202020204" pitchFamily="34" charset="0"/>
                  </a:rPr>
                  <a:t> менеджер, что это такое и как правильно использовать — эта статья для вас.</a:t>
                </a:r>
                <a:endParaRPr lang="ru-RU" sz="2000" b="1" dirty="0"/>
              </a:p>
            </p:txBody>
          </p:sp>
        </p:grp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AF17790C-529A-4EE6-87B9-035FF6871206}"/>
                </a:ext>
              </a:extLst>
            </p:cNvPr>
            <p:cNvSpPr/>
            <p:nvPr/>
          </p:nvSpPr>
          <p:spPr>
            <a:xfrm>
              <a:off x="2307392" y="1087645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618CE1-C20F-4211-9BDE-359FCBC4AC70}"/>
                </a:ext>
              </a:extLst>
            </p:cNvPr>
            <p:cNvSpPr txBox="1"/>
            <p:nvPr/>
          </p:nvSpPr>
          <p:spPr>
            <a:xfrm>
              <a:off x="2675254" y="1146336"/>
              <a:ext cx="6159062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ВСЕ В ОДНОМ ОКНЕ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Все задачи – в единой таблице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Фильтры по статусы, автору, исполнителю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Кнопка «Создать задачу» – 10 секунд на постановку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Удобно менеджеру, понятно сотруднику </a:t>
              </a:r>
            </a:p>
            <a:p>
              <a:pPr algn="ctr"/>
              <a:endPara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endParaRPr>
            </a:p>
          </p:txBody>
        </p:sp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E32368E9-72E2-4BEE-B065-0057FD9227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59" t="1272" r="24737" b="55953"/>
            <a:stretch/>
          </p:blipFill>
          <p:spPr>
            <a:xfrm>
              <a:off x="2826192" y="2952819"/>
              <a:ext cx="6008124" cy="2708969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27797D9-8DAB-4F7B-B24A-74E58672B94C}"/>
              </a:ext>
            </a:extLst>
          </p:cNvPr>
          <p:cNvSpPr/>
          <p:nvPr/>
        </p:nvSpPr>
        <p:spPr>
          <a:xfrm>
            <a:off x="2307392" y="1087645"/>
            <a:ext cx="6894786" cy="47506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792AC0-7DB3-40DA-A3EF-5C9FE8AD0C17}"/>
              </a:ext>
            </a:extLst>
          </p:cNvPr>
          <p:cNvSpPr txBox="1"/>
          <p:nvPr/>
        </p:nvSpPr>
        <p:spPr>
          <a:xfrm>
            <a:off x="2675254" y="1146336"/>
            <a:ext cx="61590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ГРУППИРУЙТЕ ЗАДАЧИ ПО МЕТКАМ</a:t>
            </a:r>
          </a:p>
          <a:p>
            <a:pPr algn="ctr"/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Создавайте любые метки под свои проекты</a:t>
            </a:r>
          </a:p>
          <a:p>
            <a:pPr algn="ctr"/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Примеры: 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 Fronted, Backend, Bug, Docs</a:t>
            </a:r>
            <a:endParaRPr lang="ru-RU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omakh Unicode" panose="02060703080006000000" pitchFamily="18" charset="0"/>
              <a:ea typeface="Monomakh Unicode" panose="02060703080006000000" pitchFamily="18" charset="0"/>
            </a:endParaRPr>
          </a:p>
          <a:p>
            <a:pPr algn="ctr"/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У каждой метки – имя, описания, дата создания</a:t>
            </a:r>
            <a:endParaRPr lang="ru-RU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omakh Unicode" panose="02060703080006000000" pitchFamily="18" charset="0"/>
              <a:ea typeface="Monomakh Unicode" panose="02060703080006000000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A3FCD7-7033-4944-B58D-5E1E9B0009D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32" t="431" r="23774" b="57206"/>
          <a:stretch/>
        </p:blipFill>
        <p:spPr>
          <a:xfrm>
            <a:off x="2571251" y="2790825"/>
            <a:ext cx="6363578" cy="281485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4388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2E6B10CE-704C-4AA2-A2D4-4DD46022E8BE}"/>
              </a:ext>
            </a:extLst>
          </p:cNvPr>
          <p:cNvGrpSpPr/>
          <p:nvPr/>
        </p:nvGrpSpPr>
        <p:grpSpPr>
          <a:xfrm>
            <a:off x="-26527859" y="425502"/>
            <a:ext cx="46339111" cy="5991227"/>
            <a:chOff x="-17414771" y="428130"/>
            <a:chExt cx="46339111" cy="5991227"/>
          </a:xfrm>
        </p:grpSpPr>
        <p:grpSp>
          <p:nvGrpSpPr>
            <p:cNvPr id="70" name="Группа 69">
              <a:extLst>
                <a:ext uri="{FF2B5EF4-FFF2-40B4-BE49-F238E27FC236}">
                  <a16:creationId xmlns:a16="http://schemas.microsoft.com/office/drawing/2014/main" id="{365472FE-5B20-40F2-87A8-24D56DE35599}"/>
                </a:ext>
              </a:extLst>
            </p:cNvPr>
            <p:cNvGrpSpPr/>
            <p:nvPr/>
          </p:nvGrpSpPr>
          <p:grpSpPr>
            <a:xfrm>
              <a:off x="-17414771" y="428130"/>
              <a:ext cx="46339111" cy="5991227"/>
              <a:chOff x="-8301683" y="430758"/>
              <a:chExt cx="46339111" cy="5991227"/>
            </a:xfrm>
          </p:grpSpPr>
          <p:grpSp>
            <p:nvGrpSpPr>
              <p:cNvPr id="74" name="Группа 73">
                <a:extLst>
                  <a:ext uri="{FF2B5EF4-FFF2-40B4-BE49-F238E27FC236}">
                    <a16:creationId xmlns:a16="http://schemas.microsoft.com/office/drawing/2014/main" id="{92683832-21C3-4139-ABF3-DAC0424DD792}"/>
                  </a:ext>
                </a:extLst>
              </p:cNvPr>
              <p:cNvGrpSpPr/>
              <p:nvPr/>
            </p:nvGrpSpPr>
            <p:grpSpPr>
              <a:xfrm>
                <a:off x="-8301683" y="430758"/>
                <a:ext cx="46339111" cy="5991227"/>
                <a:chOff x="1169879" y="433386"/>
                <a:chExt cx="46339111" cy="5991227"/>
              </a:xfrm>
            </p:grpSpPr>
            <p:grpSp>
              <p:nvGrpSpPr>
                <p:cNvPr id="78" name="Группа 77">
                  <a:extLst>
                    <a:ext uri="{FF2B5EF4-FFF2-40B4-BE49-F238E27FC236}">
                      <a16:creationId xmlns:a16="http://schemas.microsoft.com/office/drawing/2014/main" id="{B4BD098E-CF44-4098-A635-B24DFB632B91}"/>
                    </a:ext>
                  </a:extLst>
                </p:cNvPr>
                <p:cNvGrpSpPr/>
                <p:nvPr/>
              </p:nvGrpSpPr>
              <p:grpSpPr>
                <a:xfrm>
                  <a:off x="1169879" y="433386"/>
                  <a:ext cx="46339111" cy="5991227"/>
                  <a:chOff x="1169879" y="433386"/>
                  <a:chExt cx="46339111" cy="5991227"/>
                </a:xfrm>
              </p:grpSpPr>
              <p:grpSp>
                <p:nvGrpSpPr>
                  <p:cNvPr id="80" name="Группа 79">
                    <a:extLst>
                      <a:ext uri="{FF2B5EF4-FFF2-40B4-BE49-F238E27FC236}">
                        <a16:creationId xmlns:a16="http://schemas.microsoft.com/office/drawing/2014/main" id="{3624B51A-30AF-4B9B-AFAD-BC124C24BFDE}"/>
                      </a:ext>
                    </a:extLst>
                  </p:cNvPr>
                  <p:cNvGrpSpPr/>
                  <p:nvPr/>
                </p:nvGrpSpPr>
                <p:grpSpPr>
                  <a:xfrm>
                    <a:off x="2032861" y="433386"/>
                    <a:ext cx="44609658" cy="5991227"/>
                    <a:chOff x="2013857" y="433385"/>
                    <a:chExt cx="44609658" cy="5991227"/>
                  </a:xfrm>
                </p:grpSpPr>
                <p:pic>
                  <p:nvPicPr>
                    <p:cNvPr id="88" name="Picture 4" descr="Picture background">
                      <a:extLst>
                        <a:ext uri="{FF2B5EF4-FFF2-40B4-BE49-F238E27FC236}">
                          <a16:creationId xmlns:a16="http://schemas.microsoft.com/office/drawing/2014/main" id="{6D86090D-BAAD-48BB-A42E-4E8B09A3A33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013857" y="433387"/>
                      <a:ext cx="8164286" cy="599122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89" name="Picture 8" descr="Picture background">
                      <a:extLst>
                        <a:ext uri="{FF2B5EF4-FFF2-40B4-BE49-F238E27FC236}">
                          <a16:creationId xmlns:a16="http://schemas.microsoft.com/office/drawing/2014/main" id="{029BB726-D173-4F7D-86DF-41098459980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1125200" y="433386"/>
                      <a:ext cx="8164286" cy="599122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0" name="Picture 10" descr="Picture background">
                      <a:extLst>
                        <a:ext uri="{FF2B5EF4-FFF2-40B4-BE49-F238E27FC236}">
                          <a16:creationId xmlns:a16="http://schemas.microsoft.com/office/drawing/2014/main" id="{A85AB68C-21EF-4D11-89EE-D7DD96BC993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0236543" y="433386"/>
                      <a:ext cx="8164286" cy="599122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1" name="Picture 12" descr="Picture background">
                      <a:extLst>
                        <a:ext uri="{FF2B5EF4-FFF2-40B4-BE49-F238E27FC236}">
                          <a16:creationId xmlns:a16="http://schemas.microsoft.com/office/drawing/2014/main" id="{0F7E7CCA-A01A-44D4-AE45-8566BA01700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9347886" y="433385"/>
                      <a:ext cx="8164286" cy="599122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2" name="Picture 14" descr="Picture background">
                      <a:extLst>
                        <a:ext uri="{FF2B5EF4-FFF2-40B4-BE49-F238E27FC236}">
                          <a16:creationId xmlns:a16="http://schemas.microsoft.com/office/drawing/2014/main" id="{4F633117-BC65-4E60-BC15-5B594B6E056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8459229" y="433385"/>
                      <a:ext cx="8164286" cy="599122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pic>
                <p:nvPicPr>
                  <p:cNvPr id="81" name="Рисунок 80">
                    <a:extLst>
                      <a:ext uri="{FF2B5EF4-FFF2-40B4-BE49-F238E27FC236}">
                        <a16:creationId xmlns:a16="http://schemas.microsoft.com/office/drawing/2014/main" id="{0317112C-D951-4991-958F-6DDFA4E017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169879" y="3036058"/>
                    <a:ext cx="785884" cy="785884"/>
                  </a:xfrm>
                  <a:prstGeom prst="rect">
                    <a:avLst/>
                  </a:prstGeom>
                </p:spPr>
              </p:pic>
              <p:pic>
                <p:nvPicPr>
                  <p:cNvPr id="82" name="Рисунок 81">
                    <a:extLst>
                      <a:ext uri="{FF2B5EF4-FFF2-40B4-BE49-F238E27FC236}">
                        <a16:creationId xmlns:a16="http://schemas.microsoft.com/office/drawing/2014/main" id="{18316D23-D8F0-42AD-A2E0-0DE14784C0D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0277733" y="3036058"/>
                    <a:ext cx="785884" cy="785884"/>
                  </a:xfrm>
                  <a:prstGeom prst="rect">
                    <a:avLst/>
                  </a:prstGeom>
                </p:spPr>
              </p:pic>
              <p:pic>
                <p:nvPicPr>
                  <p:cNvPr id="83" name="Рисунок 82">
                    <a:extLst>
                      <a:ext uri="{FF2B5EF4-FFF2-40B4-BE49-F238E27FC236}">
                        <a16:creationId xmlns:a16="http://schemas.microsoft.com/office/drawing/2014/main" id="{D2F24754-352E-47CA-8B5F-FA6B7FE039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9378266" y="3036058"/>
                    <a:ext cx="785884" cy="785884"/>
                  </a:xfrm>
                  <a:prstGeom prst="rect">
                    <a:avLst/>
                  </a:prstGeom>
                </p:spPr>
              </p:pic>
              <p:pic>
                <p:nvPicPr>
                  <p:cNvPr id="84" name="Рисунок 83">
                    <a:extLst>
                      <a:ext uri="{FF2B5EF4-FFF2-40B4-BE49-F238E27FC236}">
                        <a16:creationId xmlns:a16="http://schemas.microsoft.com/office/drawing/2014/main" id="{B060EF56-15F8-4AD0-BB8B-FB1A983EB7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28511230" y="3036056"/>
                    <a:ext cx="785884" cy="785884"/>
                  </a:xfrm>
                  <a:prstGeom prst="rect">
                    <a:avLst/>
                  </a:prstGeom>
                </p:spPr>
              </p:pic>
              <p:pic>
                <p:nvPicPr>
                  <p:cNvPr id="85" name="Рисунок 84">
                    <a:extLst>
                      <a:ext uri="{FF2B5EF4-FFF2-40B4-BE49-F238E27FC236}">
                        <a16:creationId xmlns:a16="http://schemas.microsoft.com/office/drawing/2014/main" id="{21E619CD-BB51-40F2-AC0F-7F3FE2CBF8D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7611762" y="3036056"/>
                    <a:ext cx="785884" cy="785884"/>
                  </a:xfrm>
                  <a:prstGeom prst="rect">
                    <a:avLst/>
                  </a:prstGeom>
                </p:spPr>
              </p:pic>
              <p:pic>
                <p:nvPicPr>
                  <p:cNvPr id="86" name="Рисунок 85">
                    <a:extLst>
                      <a:ext uri="{FF2B5EF4-FFF2-40B4-BE49-F238E27FC236}">
                        <a16:creationId xmlns:a16="http://schemas.microsoft.com/office/drawing/2014/main" id="{67CB3185-E4ED-41A5-B0BD-0F041204511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6723106" y="3036056"/>
                    <a:ext cx="785884" cy="785884"/>
                  </a:xfrm>
                  <a:prstGeom prst="rect">
                    <a:avLst/>
                  </a:prstGeom>
                </p:spPr>
              </p:pic>
              <p:sp>
                <p:nvSpPr>
                  <p:cNvPr id="87" name="Прямоугольник 86">
                    <a:extLst>
                      <a:ext uri="{FF2B5EF4-FFF2-40B4-BE49-F238E27FC236}">
                        <a16:creationId xmlns:a16="http://schemas.microsoft.com/office/drawing/2014/main" id="{71881B56-F378-4A6E-9431-5ABCB64C9785}"/>
                      </a:ext>
                    </a:extLst>
                  </p:cNvPr>
                  <p:cNvSpPr/>
                  <p:nvPr/>
                </p:nvSpPr>
                <p:spPr>
                  <a:xfrm>
                    <a:off x="2627586" y="1051034"/>
                    <a:ext cx="6894786" cy="4750676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</p:grp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DDB8DD6-D096-4B2F-A27E-9D7F9281969F}"/>
                    </a:ext>
                  </a:extLst>
                </p:cNvPr>
                <p:cNvSpPr txBox="1"/>
                <p:nvPr/>
              </p:nvSpPr>
              <p:spPr>
                <a:xfrm>
                  <a:off x="2953407" y="1418897"/>
                  <a:ext cx="6159062" cy="40934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2000" b="1" i="0" dirty="0">
                      <a:solidFill>
                        <a:srgbClr val="2D3234"/>
                      </a:solidFill>
                      <a:effectLst/>
                      <a:latin typeface="Helvetica" panose="020B0604020202020204" pitchFamily="34" charset="0"/>
                    </a:rPr>
    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    </a:r>
                  <a:r>
                    <a:rPr lang="ru-RU" sz="2000" b="1" i="0" dirty="0" err="1">
                      <a:solidFill>
                        <a:srgbClr val="2D3234"/>
                      </a:solidFill>
                      <a:effectLst/>
                      <a:latin typeface="Helvetica" panose="020B0604020202020204" pitchFamily="34" charset="0"/>
                    </a:rPr>
                    <a:t>таск</a:t>
                  </a:r>
                  <a:r>
                    <a:rPr lang="ru-RU" sz="2000" b="1" i="0" dirty="0">
                      <a:solidFill>
                        <a:srgbClr val="2D3234"/>
                      </a:solidFill>
                      <a:effectLst/>
                      <a:latin typeface="Helvetica" panose="020B0604020202020204" pitchFamily="34" charset="0"/>
                    </a:rPr>
                    <a:t>-менеджер, что это не только способ сделать работу проще, и эффективнее. Поэтому, если хотите знать какой выбрать </a:t>
                  </a:r>
                  <a:r>
                    <a:rPr lang="ru-RU" sz="2000" b="1" i="0" dirty="0" err="1">
                      <a:solidFill>
                        <a:srgbClr val="2D3234"/>
                      </a:solidFill>
                      <a:effectLst/>
                      <a:latin typeface="Helvetica" panose="020B0604020202020204" pitchFamily="34" charset="0"/>
                    </a:rPr>
                    <a:t>таск</a:t>
                  </a:r>
                  <a:r>
                    <a:rPr lang="ru-RU" sz="2000" b="1" i="0" dirty="0">
                      <a:solidFill>
                        <a:srgbClr val="2D3234"/>
                      </a:solidFill>
                      <a:effectLst/>
                      <a:latin typeface="Helvetica" panose="020B0604020202020204" pitchFamily="34" charset="0"/>
                    </a:rPr>
                    <a:t> менеджер, что это такое и как правильно использовать — эта статья для вас.</a:t>
                  </a:r>
                  <a:endParaRPr lang="ru-RU" sz="2000" b="1" dirty="0"/>
                </a:p>
              </p:txBody>
            </p:sp>
          </p:grpSp>
          <p:sp>
            <p:nvSpPr>
              <p:cNvPr id="75" name="Прямоугольник 74">
                <a:extLst>
                  <a:ext uri="{FF2B5EF4-FFF2-40B4-BE49-F238E27FC236}">
                    <a16:creationId xmlns:a16="http://schemas.microsoft.com/office/drawing/2014/main" id="{B6DAD205-6943-4F03-97E8-951418751B2F}"/>
                  </a:ext>
                </a:extLst>
              </p:cNvPr>
              <p:cNvSpPr/>
              <p:nvPr/>
            </p:nvSpPr>
            <p:spPr>
              <a:xfrm>
                <a:off x="2307392" y="1087645"/>
                <a:ext cx="6894786" cy="47506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2CFC372-57B4-476B-813C-555C71CF26D2}"/>
                  </a:ext>
                </a:extLst>
              </p:cNvPr>
              <p:cNvSpPr txBox="1"/>
              <p:nvPr/>
            </p:nvSpPr>
            <p:spPr>
              <a:xfrm>
                <a:off x="2675254" y="1146336"/>
                <a:ext cx="6159062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ВСЕ В ОДНОМ ОКНЕ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Все задачи – в единой таблице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Фильтры по статусы, автору, исполнителю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Кнопка «Создать задачу» – 10 секунд на постановку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Удобно менеджеру, понятно сотруднику </a:t>
                </a:r>
              </a:p>
              <a:p>
                <a:pPr algn="ctr"/>
                <a:endPara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endParaRPr>
              </a:p>
            </p:txBody>
          </p:sp>
          <p:pic>
            <p:nvPicPr>
              <p:cNvPr id="77" name="Рисунок 76">
                <a:extLst>
                  <a:ext uri="{FF2B5EF4-FFF2-40B4-BE49-F238E27FC236}">
                    <a16:creationId xmlns:a16="http://schemas.microsoft.com/office/drawing/2014/main" id="{15A26A49-2F19-47BA-8475-56E855C50D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559" t="1272" r="24737" b="55953"/>
              <a:stretch/>
            </p:blipFill>
            <p:spPr>
              <a:xfrm>
                <a:off x="2826192" y="2952819"/>
                <a:ext cx="6008124" cy="2708969"/>
              </a:xfrm>
              <a:prstGeom prst="rect">
                <a:avLst/>
              </a:prstGeom>
              <a:ln w="127000" cap="sq">
                <a:solidFill>
                  <a:srgbClr val="000000"/>
                </a:solidFill>
                <a:miter lim="800000"/>
              </a:ln>
              <a:effectLst>
                <a:outerShdw blurRad="57150" dist="508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71" name="Прямоугольник 70">
              <a:extLst>
                <a:ext uri="{FF2B5EF4-FFF2-40B4-BE49-F238E27FC236}">
                  <a16:creationId xmlns:a16="http://schemas.microsoft.com/office/drawing/2014/main" id="{D4211262-6254-4E6C-A0BE-D9934BA9D3CA}"/>
                </a:ext>
              </a:extLst>
            </p:cNvPr>
            <p:cNvSpPr/>
            <p:nvPr/>
          </p:nvSpPr>
          <p:spPr>
            <a:xfrm>
              <a:off x="2307392" y="1087645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D2CD448-3247-4C2F-AF07-1641A525CCA3}"/>
                </a:ext>
              </a:extLst>
            </p:cNvPr>
            <p:cNvSpPr txBox="1"/>
            <p:nvPr/>
          </p:nvSpPr>
          <p:spPr>
            <a:xfrm>
              <a:off x="2675254" y="1146336"/>
              <a:ext cx="615906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ГРУППИРУЙТЕ ЗАДАЧИ ПО МЕТКАМ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Создавайте любые метки под свои проекты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Примеры: </a:t>
              </a:r>
              <a:r>
                <a:rPr 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 Fronted, Backend, Bug, Docs</a:t>
              </a:r>
              <a:endPara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endParaRP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У каждой метки – имя, описания, дата создания</a:t>
              </a:r>
              <a:endPara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endParaRPr>
            </a:p>
          </p:txBody>
        </p:sp>
        <p:pic>
          <p:nvPicPr>
            <p:cNvPr id="73" name="Рисунок 72">
              <a:extLst>
                <a:ext uri="{FF2B5EF4-FFF2-40B4-BE49-F238E27FC236}">
                  <a16:creationId xmlns:a16="http://schemas.microsoft.com/office/drawing/2014/main" id="{627EE639-2A95-411A-ACFE-B878C5C49C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32" t="431" r="23774" b="57206"/>
            <a:stretch/>
          </p:blipFill>
          <p:spPr>
            <a:xfrm>
              <a:off x="2571251" y="2790825"/>
              <a:ext cx="6363578" cy="2814852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091776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2E6B10CE-704C-4AA2-A2D4-4DD46022E8BE}"/>
              </a:ext>
            </a:extLst>
          </p:cNvPr>
          <p:cNvGrpSpPr/>
          <p:nvPr/>
        </p:nvGrpSpPr>
        <p:grpSpPr>
          <a:xfrm>
            <a:off x="-26527859" y="425502"/>
            <a:ext cx="46339111" cy="5991227"/>
            <a:chOff x="-17414771" y="428130"/>
            <a:chExt cx="46339111" cy="5991227"/>
          </a:xfrm>
        </p:grpSpPr>
        <p:grpSp>
          <p:nvGrpSpPr>
            <p:cNvPr id="70" name="Группа 69">
              <a:extLst>
                <a:ext uri="{FF2B5EF4-FFF2-40B4-BE49-F238E27FC236}">
                  <a16:creationId xmlns:a16="http://schemas.microsoft.com/office/drawing/2014/main" id="{365472FE-5B20-40F2-87A8-24D56DE35599}"/>
                </a:ext>
              </a:extLst>
            </p:cNvPr>
            <p:cNvGrpSpPr/>
            <p:nvPr/>
          </p:nvGrpSpPr>
          <p:grpSpPr>
            <a:xfrm>
              <a:off x="-17414771" y="428130"/>
              <a:ext cx="46339111" cy="5991227"/>
              <a:chOff x="-8301683" y="430758"/>
              <a:chExt cx="46339111" cy="5991227"/>
            </a:xfrm>
          </p:grpSpPr>
          <p:grpSp>
            <p:nvGrpSpPr>
              <p:cNvPr id="74" name="Группа 73">
                <a:extLst>
                  <a:ext uri="{FF2B5EF4-FFF2-40B4-BE49-F238E27FC236}">
                    <a16:creationId xmlns:a16="http://schemas.microsoft.com/office/drawing/2014/main" id="{92683832-21C3-4139-ABF3-DAC0424DD792}"/>
                  </a:ext>
                </a:extLst>
              </p:cNvPr>
              <p:cNvGrpSpPr/>
              <p:nvPr/>
            </p:nvGrpSpPr>
            <p:grpSpPr>
              <a:xfrm>
                <a:off x="-8301683" y="430758"/>
                <a:ext cx="46339111" cy="5991227"/>
                <a:chOff x="1169879" y="433386"/>
                <a:chExt cx="46339111" cy="5991227"/>
              </a:xfrm>
            </p:grpSpPr>
            <p:grpSp>
              <p:nvGrpSpPr>
                <p:cNvPr id="78" name="Группа 77">
                  <a:extLst>
                    <a:ext uri="{FF2B5EF4-FFF2-40B4-BE49-F238E27FC236}">
                      <a16:creationId xmlns:a16="http://schemas.microsoft.com/office/drawing/2014/main" id="{B4BD098E-CF44-4098-A635-B24DFB632B91}"/>
                    </a:ext>
                  </a:extLst>
                </p:cNvPr>
                <p:cNvGrpSpPr/>
                <p:nvPr/>
              </p:nvGrpSpPr>
              <p:grpSpPr>
                <a:xfrm>
                  <a:off x="1169879" y="433386"/>
                  <a:ext cx="46339111" cy="5991227"/>
                  <a:chOff x="1169879" y="433386"/>
                  <a:chExt cx="46339111" cy="5991227"/>
                </a:xfrm>
              </p:grpSpPr>
              <p:grpSp>
                <p:nvGrpSpPr>
                  <p:cNvPr id="80" name="Группа 79">
                    <a:extLst>
                      <a:ext uri="{FF2B5EF4-FFF2-40B4-BE49-F238E27FC236}">
                        <a16:creationId xmlns:a16="http://schemas.microsoft.com/office/drawing/2014/main" id="{3624B51A-30AF-4B9B-AFAD-BC124C24BFDE}"/>
                      </a:ext>
                    </a:extLst>
                  </p:cNvPr>
                  <p:cNvGrpSpPr/>
                  <p:nvPr/>
                </p:nvGrpSpPr>
                <p:grpSpPr>
                  <a:xfrm>
                    <a:off x="2032861" y="433386"/>
                    <a:ext cx="44609658" cy="5991227"/>
                    <a:chOff x="2013857" y="433385"/>
                    <a:chExt cx="44609658" cy="5991227"/>
                  </a:xfrm>
                </p:grpSpPr>
                <p:pic>
                  <p:nvPicPr>
                    <p:cNvPr id="88" name="Picture 4" descr="Picture background">
                      <a:extLst>
                        <a:ext uri="{FF2B5EF4-FFF2-40B4-BE49-F238E27FC236}">
                          <a16:creationId xmlns:a16="http://schemas.microsoft.com/office/drawing/2014/main" id="{6D86090D-BAAD-48BB-A42E-4E8B09A3A33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013857" y="433387"/>
                      <a:ext cx="8164286" cy="599122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89" name="Picture 8" descr="Picture background">
                      <a:extLst>
                        <a:ext uri="{FF2B5EF4-FFF2-40B4-BE49-F238E27FC236}">
                          <a16:creationId xmlns:a16="http://schemas.microsoft.com/office/drawing/2014/main" id="{029BB726-D173-4F7D-86DF-41098459980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1125200" y="433386"/>
                      <a:ext cx="8164286" cy="599122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0" name="Picture 10" descr="Picture background">
                      <a:extLst>
                        <a:ext uri="{FF2B5EF4-FFF2-40B4-BE49-F238E27FC236}">
                          <a16:creationId xmlns:a16="http://schemas.microsoft.com/office/drawing/2014/main" id="{A85AB68C-21EF-4D11-89EE-D7DD96BC993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0236543" y="433386"/>
                      <a:ext cx="8164286" cy="599122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1" name="Picture 12" descr="Picture background">
                      <a:extLst>
                        <a:ext uri="{FF2B5EF4-FFF2-40B4-BE49-F238E27FC236}">
                          <a16:creationId xmlns:a16="http://schemas.microsoft.com/office/drawing/2014/main" id="{0F7E7CCA-A01A-44D4-AE45-8566BA01700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9347886" y="433385"/>
                      <a:ext cx="8164286" cy="599122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2" name="Picture 14" descr="Picture background">
                      <a:extLst>
                        <a:ext uri="{FF2B5EF4-FFF2-40B4-BE49-F238E27FC236}">
                          <a16:creationId xmlns:a16="http://schemas.microsoft.com/office/drawing/2014/main" id="{4F633117-BC65-4E60-BC15-5B594B6E0563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8459229" y="433385"/>
                      <a:ext cx="8164286" cy="599122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pic>
                <p:nvPicPr>
                  <p:cNvPr id="81" name="Рисунок 80">
                    <a:extLst>
                      <a:ext uri="{FF2B5EF4-FFF2-40B4-BE49-F238E27FC236}">
                        <a16:creationId xmlns:a16="http://schemas.microsoft.com/office/drawing/2014/main" id="{0317112C-D951-4991-958F-6DDFA4E017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169879" y="3036058"/>
                    <a:ext cx="785884" cy="785884"/>
                  </a:xfrm>
                  <a:prstGeom prst="rect">
                    <a:avLst/>
                  </a:prstGeom>
                </p:spPr>
              </p:pic>
              <p:pic>
                <p:nvPicPr>
                  <p:cNvPr id="82" name="Рисунок 81">
                    <a:extLst>
                      <a:ext uri="{FF2B5EF4-FFF2-40B4-BE49-F238E27FC236}">
                        <a16:creationId xmlns:a16="http://schemas.microsoft.com/office/drawing/2014/main" id="{18316D23-D8F0-42AD-A2E0-0DE14784C0D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0277733" y="3036058"/>
                    <a:ext cx="785884" cy="785884"/>
                  </a:xfrm>
                  <a:prstGeom prst="rect">
                    <a:avLst/>
                  </a:prstGeom>
                </p:spPr>
              </p:pic>
              <p:pic>
                <p:nvPicPr>
                  <p:cNvPr id="83" name="Рисунок 82">
                    <a:extLst>
                      <a:ext uri="{FF2B5EF4-FFF2-40B4-BE49-F238E27FC236}">
                        <a16:creationId xmlns:a16="http://schemas.microsoft.com/office/drawing/2014/main" id="{D2F24754-352E-47CA-8B5F-FA6B7FE039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9378266" y="3036058"/>
                    <a:ext cx="785884" cy="785884"/>
                  </a:xfrm>
                  <a:prstGeom prst="rect">
                    <a:avLst/>
                  </a:prstGeom>
                </p:spPr>
              </p:pic>
              <p:pic>
                <p:nvPicPr>
                  <p:cNvPr id="84" name="Рисунок 83">
                    <a:extLst>
                      <a:ext uri="{FF2B5EF4-FFF2-40B4-BE49-F238E27FC236}">
                        <a16:creationId xmlns:a16="http://schemas.microsoft.com/office/drawing/2014/main" id="{B060EF56-15F8-4AD0-BB8B-FB1A983EB7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28511230" y="3036056"/>
                    <a:ext cx="785884" cy="785884"/>
                  </a:xfrm>
                  <a:prstGeom prst="rect">
                    <a:avLst/>
                  </a:prstGeom>
                </p:spPr>
              </p:pic>
              <p:pic>
                <p:nvPicPr>
                  <p:cNvPr id="85" name="Рисунок 84">
                    <a:extLst>
                      <a:ext uri="{FF2B5EF4-FFF2-40B4-BE49-F238E27FC236}">
                        <a16:creationId xmlns:a16="http://schemas.microsoft.com/office/drawing/2014/main" id="{21E619CD-BB51-40F2-AC0F-7F3FE2CBF8D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7611762" y="3036056"/>
                    <a:ext cx="785884" cy="785884"/>
                  </a:xfrm>
                  <a:prstGeom prst="rect">
                    <a:avLst/>
                  </a:prstGeom>
                </p:spPr>
              </p:pic>
              <p:pic>
                <p:nvPicPr>
                  <p:cNvPr id="86" name="Рисунок 85">
                    <a:extLst>
                      <a:ext uri="{FF2B5EF4-FFF2-40B4-BE49-F238E27FC236}">
                        <a16:creationId xmlns:a16="http://schemas.microsoft.com/office/drawing/2014/main" id="{67CB3185-E4ED-41A5-B0BD-0F041204511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6723106" y="3036056"/>
                    <a:ext cx="785884" cy="785884"/>
                  </a:xfrm>
                  <a:prstGeom prst="rect">
                    <a:avLst/>
                  </a:prstGeom>
                </p:spPr>
              </p:pic>
              <p:sp>
                <p:nvSpPr>
                  <p:cNvPr id="87" name="Прямоугольник 86">
                    <a:extLst>
                      <a:ext uri="{FF2B5EF4-FFF2-40B4-BE49-F238E27FC236}">
                        <a16:creationId xmlns:a16="http://schemas.microsoft.com/office/drawing/2014/main" id="{71881B56-F378-4A6E-9431-5ABCB64C9785}"/>
                      </a:ext>
                    </a:extLst>
                  </p:cNvPr>
                  <p:cNvSpPr/>
                  <p:nvPr/>
                </p:nvSpPr>
                <p:spPr>
                  <a:xfrm>
                    <a:off x="2627586" y="1051034"/>
                    <a:ext cx="6894786" cy="4750676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</p:grp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DDB8DD6-D096-4B2F-A27E-9D7F9281969F}"/>
                    </a:ext>
                  </a:extLst>
                </p:cNvPr>
                <p:cNvSpPr txBox="1"/>
                <p:nvPr/>
              </p:nvSpPr>
              <p:spPr>
                <a:xfrm>
                  <a:off x="2953407" y="1418897"/>
                  <a:ext cx="6159062" cy="40934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2000" b="1" i="0" dirty="0">
                      <a:solidFill>
                        <a:srgbClr val="2D3234"/>
                      </a:solidFill>
                      <a:effectLst/>
                      <a:latin typeface="Helvetica" panose="020B0604020202020204" pitchFamily="34" charset="0"/>
                    </a:rPr>
    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    </a:r>
                  <a:r>
                    <a:rPr lang="ru-RU" sz="2000" b="1" i="0" dirty="0" err="1">
                      <a:solidFill>
                        <a:srgbClr val="2D3234"/>
                      </a:solidFill>
                      <a:effectLst/>
                      <a:latin typeface="Helvetica" panose="020B0604020202020204" pitchFamily="34" charset="0"/>
                    </a:rPr>
                    <a:t>таск</a:t>
                  </a:r>
                  <a:r>
                    <a:rPr lang="ru-RU" sz="2000" b="1" i="0" dirty="0">
                      <a:solidFill>
                        <a:srgbClr val="2D3234"/>
                      </a:solidFill>
                      <a:effectLst/>
                      <a:latin typeface="Helvetica" panose="020B0604020202020204" pitchFamily="34" charset="0"/>
                    </a:rPr>
                    <a:t>-менеджер, что это не только способ сделать работу проще, и эффективнее. Поэтому, если хотите знать какой выбрать </a:t>
                  </a:r>
                  <a:r>
                    <a:rPr lang="ru-RU" sz="2000" b="1" i="0" dirty="0" err="1">
                      <a:solidFill>
                        <a:srgbClr val="2D3234"/>
                      </a:solidFill>
                      <a:effectLst/>
                      <a:latin typeface="Helvetica" panose="020B0604020202020204" pitchFamily="34" charset="0"/>
                    </a:rPr>
                    <a:t>таск</a:t>
                  </a:r>
                  <a:r>
                    <a:rPr lang="ru-RU" sz="2000" b="1" i="0" dirty="0">
                      <a:solidFill>
                        <a:srgbClr val="2D3234"/>
                      </a:solidFill>
                      <a:effectLst/>
                      <a:latin typeface="Helvetica" panose="020B0604020202020204" pitchFamily="34" charset="0"/>
                    </a:rPr>
                    <a:t> менеджер, что это такое и как правильно использовать — эта статья для вас.</a:t>
                  </a:r>
                  <a:endParaRPr lang="ru-RU" sz="2000" b="1" dirty="0"/>
                </a:p>
              </p:txBody>
            </p:sp>
          </p:grpSp>
          <p:sp>
            <p:nvSpPr>
              <p:cNvPr id="75" name="Прямоугольник 74">
                <a:extLst>
                  <a:ext uri="{FF2B5EF4-FFF2-40B4-BE49-F238E27FC236}">
                    <a16:creationId xmlns:a16="http://schemas.microsoft.com/office/drawing/2014/main" id="{B6DAD205-6943-4F03-97E8-951418751B2F}"/>
                  </a:ext>
                </a:extLst>
              </p:cNvPr>
              <p:cNvSpPr/>
              <p:nvPr/>
            </p:nvSpPr>
            <p:spPr>
              <a:xfrm>
                <a:off x="2307392" y="1087645"/>
                <a:ext cx="6894786" cy="47506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2CFC372-57B4-476B-813C-555C71CF26D2}"/>
                  </a:ext>
                </a:extLst>
              </p:cNvPr>
              <p:cNvSpPr txBox="1"/>
              <p:nvPr/>
            </p:nvSpPr>
            <p:spPr>
              <a:xfrm>
                <a:off x="2675254" y="1146336"/>
                <a:ext cx="6159062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ВСЕ В ОДНОМ ОКНЕ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Все задачи – в единой таблице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Фильтры по статусы, автору, исполнителю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Кнопка «Создать задачу» – 10 секунд на постановку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Удобно менеджеру, понятно сотруднику </a:t>
                </a:r>
              </a:p>
              <a:p>
                <a:pPr algn="ctr"/>
                <a:endPara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endParaRPr>
              </a:p>
            </p:txBody>
          </p:sp>
          <p:pic>
            <p:nvPicPr>
              <p:cNvPr id="77" name="Рисунок 76">
                <a:extLst>
                  <a:ext uri="{FF2B5EF4-FFF2-40B4-BE49-F238E27FC236}">
                    <a16:creationId xmlns:a16="http://schemas.microsoft.com/office/drawing/2014/main" id="{15A26A49-2F19-47BA-8475-56E855C50D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559" t="1272" r="24737" b="55953"/>
              <a:stretch/>
            </p:blipFill>
            <p:spPr>
              <a:xfrm>
                <a:off x="2826192" y="2952819"/>
                <a:ext cx="6008124" cy="2708969"/>
              </a:xfrm>
              <a:prstGeom prst="rect">
                <a:avLst/>
              </a:prstGeom>
              <a:ln w="127000" cap="sq">
                <a:solidFill>
                  <a:srgbClr val="000000"/>
                </a:solidFill>
                <a:miter lim="800000"/>
              </a:ln>
              <a:effectLst>
                <a:outerShdw blurRad="57150" dist="508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71" name="Прямоугольник 70">
              <a:extLst>
                <a:ext uri="{FF2B5EF4-FFF2-40B4-BE49-F238E27FC236}">
                  <a16:creationId xmlns:a16="http://schemas.microsoft.com/office/drawing/2014/main" id="{D4211262-6254-4E6C-A0BE-D9934BA9D3CA}"/>
                </a:ext>
              </a:extLst>
            </p:cNvPr>
            <p:cNvSpPr/>
            <p:nvPr/>
          </p:nvSpPr>
          <p:spPr>
            <a:xfrm>
              <a:off x="2307392" y="1087645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D2CD448-3247-4C2F-AF07-1641A525CCA3}"/>
                </a:ext>
              </a:extLst>
            </p:cNvPr>
            <p:cNvSpPr txBox="1"/>
            <p:nvPr/>
          </p:nvSpPr>
          <p:spPr>
            <a:xfrm>
              <a:off x="2675254" y="1146336"/>
              <a:ext cx="615906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ГРУППИРУЙТЕ ЗАДАЧИ ПО МЕТКАМ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Создавайте любые метки под свои проекты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Примеры: </a:t>
              </a:r>
              <a:r>
                <a:rPr 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 Fronted, Backend, Bug, Docs</a:t>
              </a:r>
              <a:endPara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endParaRP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У каждой метки – имя, описания, дата создания</a:t>
              </a:r>
              <a:endParaRPr lang="ru-RU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endParaRPr>
            </a:p>
          </p:txBody>
        </p:sp>
        <p:pic>
          <p:nvPicPr>
            <p:cNvPr id="73" name="Рисунок 72">
              <a:extLst>
                <a:ext uri="{FF2B5EF4-FFF2-40B4-BE49-F238E27FC236}">
                  <a16:creationId xmlns:a16="http://schemas.microsoft.com/office/drawing/2014/main" id="{627EE639-2A95-411A-ACFE-B878C5C49C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32" t="431" r="23774" b="57206"/>
            <a:stretch/>
          </p:blipFill>
          <p:spPr>
            <a:xfrm>
              <a:off x="2571251" y="2790825"/>
              <a:ext cx="6363578" cy="2814852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09FD338-8616-4960-9E06-9ED9D7A07963}"/>
              </a:ext>
            </a:extLst>
          </p:cNvPr>
          <p:cNvSpPr/>
          <p:nvPr/>
        </p:nvSpPr>
        <p:spPr>
          <a:xfrm>
            <a:off x="2267368" y="1051034"/>
            <a:ext cx="6894786" cy="47506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613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E398ADE-0826-44DB-BC05-8336DCAC09E9}"/>
              </a:ext>
            </a:extLst>
          </p:cNvPr>
          <p:cNvGrpSpPr/>
          <p:nvPr/>
        </p:nvGrpSpPr>
        <p:grpSpPr>
          <a:xfrm>
            <a:off x="-26527859" y="425502"/>
            <a:ext cx="46339111" cy="5991227"/>
            <a:chOff x="-26527859" y="425502"/>
            <a:chExt cx="46339111" cy="5991227"/>
          </a:xfrm>
        </p:grpSpPr>
        <p:grpSp>
          <p:nvGrpSpPr>
            <p:cNvPr id="69" name="Группа 68">
              <a:extLst>
                <a:ext uri="{FF2B5EF4-FFF2-40B4-BE49-F238E27FC236}">
                  <a16:creationId xmlns:a16="http://schemas.microsoft.com/office/drawing/2014/main" id="{2E6B10CE-704C-4AA2-A2D4-4DD46022E8BE}"/>
                </a:ext>
              </a:extLst>
            </p:cNvPr>
            <p:cNvGrpSpPr/>
            <p:nvPr/>
          </p:nvGrpSpPr>
          <p:grpSpPr>
            <a:xfrm>
              <a:off x="-26527859" y="425502"/>
              <a:ext cx="46339111" cy="5991227"/>
              <a:chOff x="-17414771" y="428130"/>
              <a:chExt cx="46339111" cy="5991227"/>
            </a:xfrm>
          </p:grpSpPr>
          <p:grpSp>
            <p:nvGrpSpPr>
              <p:cNvPr id="70" name="Группа 69">
                <a:extLst>
                  <a:ext uri="{FF2B5EF4-FFF2-40B4-BE49-F238E27FC236}">
                    <a16:creationId xmlns:a16="http://schemas.microsoft.com/office/drawing/2014/main" id="{365472FE-5B20-40F2-87A8-24D56DE35599}"/>
                  </a:ext>
                </a:extLst>
              </p:cNvPr>
              <p:cNvGrpSpPr/>
              <p:nvPr/>
            </p:nvGrpSpPr>
            <p:grpSpPr>
              <a:xfrm>
                <a:off x="-17414771" y="428130"/>
                <a:ext cx="46339111" cy="5991227"/>
                <a:chOff x="-8301683" y="430758"/>
                <a:chExt cx="46339111" cy="5991227"/>
              </a:xfrm>
            </p:grpSpPr>
            <p:grpSp>
              <p:nvGrpSpPr>
                <p:cNvPr id="74" name="Группа 73">
                  <a:extLst>
                    <a:ext uri="{FF2B5EF4-FFF2-40B4-BE49-F238E27FC236}">
                      <a16:creationId xmlns:a16="http://schemas.microsoft.com/office/drawing/2014/main" id="{92683832-21C3-4139-ABF3-DAC0424DD792}"/>
                    </a:ext>
                  </a:extLst>
                </p:cNvPr>
                <p:cNvGrpSpPr/>
                <p:nvPr/>
              </p:nvGrpSpPr>
              <p:grpSpPr>
                <a:xfrm>
                  <a:off x="-8301683" y="430758"/>
                  <a:ext cx="46339111" cy="5991227"/>
                  <a:chOff x="1169879" y="433386"/>
                  <a:chExt cx="46339111" cy="5991227"/>
                </a:xfrm>
              </p:grpSpPr>
              <p:grpSp>
                <p:nvGrpSpPr>
                  <p:cNvPr id="78" name="Группа 77">
                    <a:extLst>
                      <a:ext uri="{FF2B5EF4-FFF2-40B4-BE49-F238E27FC236}">
                        <a16:creationId xmlns:a16="http://schemas.microsoft.com/office/drawing/2014/main" id="{B4BD098E-CF44-4098-A635-B24DFB632B91}"/>
                      </a:ext>
                    </a:extLst>
                  </p:cNvPr>
                  <p:cNvGrpSpPr/>
                  <p:nvPr/>
                </p:nvGrpSpPr>
                <p:grpSpPr>
                  <a:xfrm>
                    <a:off x="1169879" y="433386"/>
                    <a:ext cx="46339111" cy="5991227"/>
                    <a:chOff x="1169879" y="433386"/>
                    <a:chExt cx="46339111" cy="5991227"/>
                  </a:xfrm>
                </p:grpSpPr>
                <p:grpSp>
                  <p:nvGrpSpPr>
                    <p:cNvPr id="80" name="Группа 79">
                      <a:extLst>
                        <a:ext uri="{FF2B5EF4-FFF2-40B4-BE49-F238E27FC236}">
                          <a16:creationId xmlns:a16="http://schemas.microsoft.com/office/drawing/2014/main" id="{3624B51A-30AF-4B9B-AFAD-BC124C24BF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2861" y="433386"/>
                      <a:ext cx="44609658" cy="5991227"/>
                      <a:chOff x="2013857" y="433385"/>
                      <a:chExt cx="44609658" cy="5991227"/>
                    </a:xfrm>
                  </p:grpSpPr>
                  <p:pic>
                    <p:nvPicPr>
                      <p:cNvPr id="88" name="Picture 4" descr="Picture background">
                        <a:extLst>
                          <a:ext uri="{FF2B5EF4-FFF2-40B4-BE49-F238E27FC236}">
                            <a16:creationId xmlns:a16="http://schemas.microsoft.com/office/drawing/2014/main" id="{6D86090D-BAAD-48BB-A42E-4E8B09A3A3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857" y="433387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89" name="Picture 8" descr="Picture background">
                        <a:extLst>
                          <a:ext uri="{FF2B5EF4-FFF2-40B4-BE49-F238E27FC236}">
                            <a16:creationId xmlns:a16="http://schemas.microsoft.com/office/drawing/2014/main" id="{029BB726-D173-4F7D-86DF-4109845998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5200" y="433386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90" name="Picture 10" descr="Picture background">
                        <a:extLst>
                          <a:ext uri="{FF2B5EF4-FFF2-40B4-BE49-F238E27FC236}">
                            <a16:creationId xmlns:a16="http://schemas.microsoft.com/office/drawing/2014/main" id="{A85AB68C-21EF-4D11-89EE-D7DD96BC99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6543" y="433386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91" name="Picture 12" descr="Picture background">
                        <a:extLst>
                          <a:ext uri="{FF2B5EF4-FFF2-40B4-BE49-F238E27FC236}">
                            <a16:creationId xmlns:a16="http://schemas.microsoft.com/office/drawing/2014/main" id="{0F7E7CCA-A01A-44D4-AE45-8566BA0170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7886" y="433385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92" name="Picture 14" descr="Picture background">
                        <a:extLst>
                          <a:ext uri="{FF2B5EF4-FFF2-40B4-BE49-F238E27FC236}">
                            <a16:creationId xmlns:a16="http://schemas.microsoft.com/office/drawing/2014/main" id="{4F633117-BC65-4E60-BC15-5B594B6E05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9229" y="433385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pic>
                  <p:nvPicPr>
                    <p:cNvPr id="81" name="Рисунок 80">
                      <a:extLst>
                        <a:ext uri="{FF2B5EF4-FFF2-40B4-BE49-F238E27FC236}">
                          <a16:creationId xmlns:a16="http://schemas.microsoft.com/office/drawing/2014/main" id="{0317112C-D951-4991-958F-6DDFA4E0175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169879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2" name="Рисунок 81">
                      <a:extLst>
                        <a:ext uri="{FF2B5EF4-FFF2-40B4-BE49-F238E27FC236}">
                          <a16:creationId xmlns:a16="http://schemas.microsoft.com/office/drawing/2014/main" id="{18316D23-D8F0-42AD-A2E0-0DE14784C0D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0277733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3" name="Рисунок 82">
                      <a:extLst>
                        <a:ext uri="{FF2B5EF4-FFF2-40B4-BE49-F238E27FC236}">
                          <a16:creationId xmlns:a16="http://schemas.microsoft.com/office/drawing/2014/main" id="{D2F24754-352E-47CA-8B5F-FA6B7FE039E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9378266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4" name="Рисунок 83">
                      <a:extLst>
                        <a:ext uri="{FF2B5EF4-FFF2-40B4-BE49-F238E27FC236}">
                          <a16:creationId xmlns:a16="http://schemas.microsoft.com/office/drawing/2014/main" id="{B060EF56-15F8-4AD0-BB8B-FB1A983EB78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28511230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5" name="Рисунок 84">
                      <a:extLst>
                        <a:ext uri="{FF2B5EF4-FFF2-40B4-BE49-F238E27FC236}">
                          <a16:creationId xmlns:a16="http://schemas.microsoft.com/office/drawing/2014/main" id="{21E619CD-BB51-40F2-AC0F-7F3FE2CBF8D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37611762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6" name="Рисунок 85">
                      <a:extLst>
                        <a:ext uri="{FF2B5EF4-FFF2-40B4-BE49-F238E27FC236}">
                          <a16:creationId xmlns:a16="http://schemas.microsoft.com/office/drawing/2014/main" id="{67CB3185-E4ED-41A5-B0BD-0F041204511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46723106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87" name="Прямоугольник 86">
                      <a:extLst>
                        <a:ext uri="{FF2B5EF4-FFF2-40B4-BE49-F238E27FC236}">
                          <a16:creationId xmlns:a16="http://schemas.microsoft.com/office/drawing/2014/main" id="{71881B56-F378-4A6E-9431-5ABCB64C97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7586" y="1051034"/>
                      <a:ext cx="6894786" cy="4750676"/>
                    </a:xfrm>
                    <a:prstGeom prst="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2DDB8DD6-D096-4B2F-A27E-9D7F9281969F}"/>
                      </a:ext>
                    </a:extLst>
                  </p:cNvPr>
                  <p:cNvSpPr txBox="1"/>
                  <p:nvPr/>
                </p:nvSpPr>
                <p:spPr>
                  <a:xfrm>
                    <a:off x="2953407" y="1418897"/>
                    <a:ext cx="6159062" cy="40934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      </a:r>
                    <a:r>
                      <a:rPr lang="ru-RU" sz="2000" b="1" i="0" dirty="0" err="1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</a:t>
                    </a:r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-менеджер, что это не только способ сделать работу проще, и эффективнее. Поэтому, если хотите знать какой выбрать </a:t>
                    </a:r>
                    <a:r>
                      <a:rPr lang="ru-RU" sz="2000" b="1" i="0" dirty="0" err="1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</a:t>
                    </a:r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 менеджер, что это такое и как правильно использовать — эта статья для вас.</a:t>
                    </a:r>
                    <a:endParaRPr lang="ru-RU" sz="2000" b="1" dirty="0"/>
                  </a:p>
                </p:txBody>
              </p:sp>
            </p:grpSp>
            <p:sp>
              <p:nvSpPr>
                <p:cNvPr id="75" name="Прямоугольник 74">
                  <a:extLst>
                    <a:ext uri="{FF2B5EF4-FFF2-40B4-BE49-F238E27FC236}">
                      <a16:creationId xmlns:a16="http://schemas.microsoft.com/office/drawing/2014/main" id="{B6DAD205-6943-4F03-97E8-951418751B2F}"/>
                    </a:ext>
                  </a:extLst>
                </p:cNvPr>
                <p:cNvSpPr/>
                <p:nvPr/>
              </p:nvSpPr>
              <p:spPr>
                <a:xfrm>
                  <a:off x="2307392" y="1087645"/>
                  <a:ext cx="6894786" cy="4750676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C2CFC372-57B4-476B-813C-555C71CF26D2}"/>
                    </a:ext>
                  </a:extLst>
                </p:cNvPr>
                <p:cNvSpPr txBox="1"/>
                <p:nvPr/>
              </p:nvSpPr>
              <p:spPr>
                <a:xfrm>
                  <a:off x="2675254" y="1146336"/>
                  <a:ext cx="6159062" cy="20621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2400" dirty="0">
                      <a:ln w="0"/>
                      <a:solidFill>
                        <a:schemeClr val="bg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ВСЕ В ОДНОМ ОКНЕ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Все задачи – в единой таблице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Фильтры по статусы, автору, исполнителю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Кнопка «Создать задачу» – 10 секунд на постановку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Удобно менеджеру, понятно сотруднику </a:t>
                  </a:r>
                </a:p>
                <a:p>
                  <a:pPr algn="ctr"/>
                  <a:endParaRPr lang="ru-RU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endParaRPr>
                </a:p>
              </p:txBody>
            </p:sp>
            <p:pic>
              <p:nvPicPr>
                <p:cNvPr id="77" name="Рисунок 76">
                  <a:extLst>
                    <a:ext uri="{FF2B5EF4-FFF2-40B4-BE49-F238E27FC236}">
                      <a16:creationId xmlns:a16="http://schemas.microsoft.com/office/drawing/2014/main" id="{15A26A49-2F19-47BA-8475-56E855C50D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559" t="1272" r="24737" b="55953"/>
                <a:stretch/>
              </p:blipFill>
              <p:spPr>
                <a:xfrm>
                  <a:off x="2826192" y="2952819"/>
                  <a:ext cx="6008124" cy="2708969"/>
                </a:xfrm>
                <a:prstGeom prst="rect">
                  <a:avLst/>
                </a:prstGeom>
                <a:ln w="127000" cap="sq">
                  <a:solidFill>
                    <a:srgbClr val="000000"/>
                  </a:solidFill>
                  <a:miter lim="800000"/>
                </a:ln>
                <a:effectLst>
                  <a:outerShdw blurRad="57150" dist="50800" dir="2700000" algn="tl" rotWithShape="0">
                    <a:srgbClr val="000000">
                      <a:alpha val="40000"/>
                    </a:srgbClr>
                  </a:outerShdw>
                </a:effectLst>
              </p:spPr>
            </p:pic>
          </p:grpSp>
          <p:sp>
            <p:nvSpPr>
              <p:cNvPr id="71" name="Прямоугольник 70">
                <a:extLst>
                  <a:ext uri="{FF2B5EF4-FFF2-40B4-BE49-F238E27FC236}">
                    <a16:creationId xmlns:a16="http://schemas.microsoft.com/office/drawing/2014/main" id="{D4211262-6254-4E6C-A0BE-D9934BA9D3CA}"/>
                  </a:ext>
                </a:extLst>
              </p:cNvPr>
              <p:cNvSpPr/>
              <p:nvPr/>
            </p:nvSpPr>
            <p:spPr>
              <a:xfrm>
                <a:off x="2307392" y="1087645"/>
                <a:ext cx="6894786" cy="47506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D2CD448-3247-4C2F-AF07-1641A525CCA3}"/>
                  </a:ext>
                </a:extLst>
              </p:cNvPr>
              <p:cNvSpPr txBox="1"/>
              <p:nvPr/>
            </p:nvSpPr>
            <p:spPr>
              <a:xfrm>
                <a:off x="2675254" y="1146336"/>
                <a:ext cx="615906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ГРУППИРУЙТЕ ЗАДАЧИ ПО МЕТКАМ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Создавайте любые метки под свои проекты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Примеры: </a:t>
                </a:r>
                <a:r>
                  <a:rPr lang="en-US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 Fronted, Backend, Bug, Docs</a:t>
                </a:r>
                <a:endPara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endParaRP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У каждой метки – имя, описания, дата создания</a:t>
                </a:r>
                <a:endParaRPr lang="ru-RU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endParaRPr>
              </a:p>
            </p:txBody>
          </p:sp>
          <p:pic>
            <p:nvPicPr>
              <p:cNvPr id="73" name="Рисунок 72">
                <a:extLst>
                  <a:ext uri="{FF2B5EF4-FFF2-40B4-BE49-F238E27FC236}">
                    <a16:creationId xmlns:a16="http://schemas.microsoft.com/office/drawing/2014/main" id="{627EE639-2A95-411A-ACFE-B878C5C49C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032" t="431" r="23774" b="57206"/>
              <a:stretch/>
            </p:blipFill>
            <p:spPr>
              <a:xfrm>
                <a:off x="2571251" y="2790825"/>
                <a:ext cx="6363578" cy="2814852"/>
              </a:xfrm>
              <a:prstGeom prst="rect">
                <a:avLst/>
              </a:prstGeom>
              <a:ln w="127000" cap="sq">
                <a:solidFill>
                  <a:srgbClr val="000000"/>
                </a:solidFill>
                <a:miter lim="800000"/>
              </a:ln>
              <a:effectLst>
                <a:outerShdw blurRad="57150" dist="508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1FC2D47C-0FCF-42BE-97BD-66704F33B133}"/>
                </a:ext>
              </a:extLst>
            </p:cNvPr>
            <p:cNvSpPr/>
            <p:nvPr/>
          </p:nvSpPr>
          <p:spPr>
            <a:xfrm>
              <a:off x="2267368" y="1051034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4A8C16D-D152-4745-AB94-7F8EFFA17F50}"/>
                </a:ext>
              </a:extLst>
            </p:cNvPr>
            <p:cNvSpPr txBox="1"/>
            <p:nvPr/>
          </p:nvSpPr>
          <p:spPr>
            <a:xfrm>
              <a:off x="2675254" y="1146336"/>
              <a:ext cx="615906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КОНТРОЛИРУЙТЕ ЭТАПЫ РАБОТ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Статусы показывают, на каком этапе задача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Вы сами </a:t>
              </a:r>
              <a:r>
                <a:rPr lang="ru-RU" sz="20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создаёете</a:t>
              </a:r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, меняете и удаляете статусы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Никто не скажет «я не знал, что это срочно»</a:t>
              </a:r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C0630CF3-52C0-4748-B3DA-A67F0E957B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5" r="24621" b="59751"/>
            <a:stretch/>
          </p:blipFill>
          <p:spPr>
            <a:xfrm>
              <a:off x="2567122" y="2846028"/>
              <a:ext cx="6295278" cy="2674416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770339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18CBCD58-A55C-4698-8EC9-0F3E6CDB2077}"/>
              </a:ext>
            </a:extLst>
          </p:cNvPr>
          <p:cNvGrpSpPr/>
          <p:nvPr/>
        </p:nvGrpSpPr>
        <p:grpSpPr>
          <a:xfrm>
            <a:off x="-35639203" y="425502"/>
            <a:ext cx="46339111" cy="5991227"/>
            <a:chOff x="-26527859" y="425502"/>
            <a:chExt cx="46339111" cy="5991227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0E300EF9-5688-46E2-AA57-CAF8C6BD32A5}"/>
                </a:ext>
              </a:extLst>
            </p:cNvPr>
            <p:cNvGrpSpPr/>
            <p:nvPr/>
          </p:nvGrpSpPr>
          <p:grpSpPr>
            <a:xfrm>
              <a:off x="-26527859" y="425502"/>
              <a:ext cx="46339111" cy="5991227"/>
              <a:chOff x="-17414771" y="428130"/>
              <a:chExt cx="46339111" cy="5991227"/>
            </a:xfrm>
          </p:grpSpPr>
          <p:grpSp>
            <p:nvGrpSpPr>
              <p:cNvPr id="39" name="Группа 38">
                <a:extLst>
                  <a:ext uri="{FF2B5EF4-FFF2-40B4-BE49-F238E27FC236}">
                    <a16:creationId xmlns:a16="http://schemas.microsoft.com/office/drawing/2014/main" id="{C70C6EE2-59D5-4ACA-A35B-B3ED045AA546}"/>
                  </a:ext>
                </a:extLst>
              </p:cNvPr>
              <p:cNvGrpSpPr/>
              <p:nvPr/>
            </p:nvGrpSpPr>
            <p:grpSpPr>
              <a:xfrm>
                <a:off x="-17414771" y="428130"/>
                <a:ext cx="46339111" cy="5991227"/>
                <a:chOff x="-8301683" y="430758"/>
                <a:chExt cx="46339111" cy="5991227"/>
              </a:xfrm>
            </p:grpSpPr>
            <p:grpSp>
              <p:nvGrpSpPr>
                <p:cNvPr id="43" name="Группа 42">
                  <a:extLst>
                    <a:ext uri="{FF2B5EF4-FFF2-40B4-BE49-F238E27FC236}">
                      <a16:creationId xmlns:a16="http://schemas.microsoft.com/office/drawing/2014/main" id="{92930519-E317-4328-B22F-B0BE03DD9950}"/>
                    </a:ext>
                  </a:extLst>
                </p:cNvPr>
                <p:cNvGrpSpPr/>
                <p:nvPr/>
              </p:nvGrpSpPr>
              <p:grpSpPr>
                <a:xfrm>
                  <a:off x="-8301683" y="430758"/>
                  <a:ext cx="46339111" cy="5991227"/>
                  <a:chOff x="1169879" y="433386"/>
                  <a:chExt cx="46339111" cy="5991227"/>
                </a:xfrm>
              </p:grpSpPr>
              <p:grpSp>
                <p:nvGrpSpPr>
                  <p:cNvPr id="47" name="Группа 46">
                    <a:extLst>
                      <a:ext uri="{FF2B5EF4-FFF2-40B4-BE49-F238E27FC236}">
                        <a16:creationId xmlns:a16="http://schemas.microsoft.com/office/drawing/2014/main" id="{8DC03C14-7796-45C8-8039-8869E0A8C00F}"/>
                      </a:ext>
                    </a:extLst>
                  </p:cNvPr>
                  <p:cNvGrpSpPr/>
                  <p:nvPr/>
                </p:nvGrpSpPr>
                <p:grpSpPr>
                  <a:xfrm>
                    <a:off x="1169879" y="433386"/>
                    <a:ext cx="46339111" cy="5991227"/>
                    <a:chOff x="1169879" y="433386"/>
                    <a:chExt cx="46339111" cy="5991227"/>
                  </a:xfrm>
                </p:grpSpPr>
                <p:grpSp>
                  <p:nvGrpSpPr>
                    <p:cNvPr id="49" name="Группа 48">
                      <a:extLst>
                        <a:ext uri="{FF2B5EF4-FFF2-40B4-BE49-F238E27FC236}">
                          <a16:creationId xmlns:a16="http://schemas.microsoft.com/office/drawing/2014/main" id="{E3B83A30-13D1-4E91-9AD3-DBDCB76F79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2861" y="433386"/>
                      <a:ext cx="44609658" cy="5991227"/>
                      <a:chOff x="2013857" y="433385"/>
                      <a:chExt cx="44609658" cy="5991227"/>
                    </a:xfrm>
                  </p:grpSpPr>
                  <p:pic>
                    <p:nvPicPr>
                      <p:cNvPr id="57" name="Picture 4" descr="Picture background">
                        <a:extLst>
                          <a:ext uri="{FF2B5EF4-FFF2-40B4-BE49-F238E27FC236}">
                            <a16:creationId xmlns:a16="http://schemas.microsoft.com/office/drawing/2014/main" id="{D8683ECE-B5CD-4480-98B4-29A72A977C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857" y="433387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58" name="Picture 8" descr="Picture background">
                        <a:extLst>
                          <a:ext uri="{FF2B5EF4-FFF2-40B4-BE49-F238E27FC236}">
                            <a16:creationId xmlns:a16="http://schemas.microsoft.com/office/drawing/2014/main" id="{B6D03790-CCEB-4820-9D3F-233E9EBE54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5200" y="433386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59" name="Picture 10" descr="Picture background">
                        <a:extLst>
                          <a:ext uri="{FF2B5EF4-FFF2-40B4-BE49-F238E27FC236}">
                            <a16:creationId xmlns:a16="http://schemas.microsoft.com/office/drawing/2014/main" id="{E9FA4B33-C774-41C6-82CE-2DE9C21102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6543" y="433386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0" name="Picture 12" descr="Picture background">
                        <a:extLst>
                          <a:ext uri="{FF2B5EF4-FFF2-40B4-BE49-F238E27FC236}">
                            <a16:creationId xmlns:a16="http://schemas.microsoft.com/office/drawing/2014/main" id="{F222C329-47D5-46A0-B2D6-AA670CCF2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7886" y="433385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1" name="Picture 14" descr="Picture background">
                        <a:extLst>
                          <a:ext uri="{FF2B5EF4-FFF2-40B4-BE49-F238E27FC236}">
                            <a16:creationId xmlns:a16="http://schemas.microsoft.com/office/drawing/2014/main" id="{6A5629D5-5493-4702-8CA0-5CB2062AD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9229" y="433385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pic>
                  <p:nvPicPr>
                    <p:cNvPr id="50" name="Рисунок 49">
                      <a:extLst>
                        <a:ext uri="{FF2B5EF4-FFF2-40B4-BE49-F238E27FC236}">
                          <a16:creationId xmlns:a16="http://schemas.microsoft.com/office/drawing/2014/main" id="{0969A7A5-1A0F-46AC-A3A1-E35E56427DA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169879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1" name="Рисунок 50">
                      <a:extLst>
                        <a:ext uri="{FF2B5EF4-FFF2-40B4-BE49-F238E27FC236}">
                          <a16:creationId xmlns:a16="http://schemas.microsoft.com/office/drawing/2014/main" id="{D035C9BD-52CE-4D53-8D83-907D2EC82D6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0277733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2" name="Рисунок 51">
                      <a:extLst>
                        <a:ext uri="{FF2B5EF4-FFF2-40B4-BE49-F238E27FC236}">
                          <a16:creationId xmlns:a16="http://schemas.microsoft.com/office/drawing/2014/main" id="{715BB4B9-C55A-4224-990B-89983114356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9378266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3" name="Рисунок 52">
                      <a:extLst>
                        <a:ext uri="{FF2B5EF4-FFF2-40B4-BE49-F238E27FC236}">
                          <a16:creationId xmlns:a16="http://schemas.microsoft.com/office/drawing/2014/main" id="{E8D0CB69-37C4-4FA9-BFF7-5E1073AE9FF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28511230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4" name="Рисунок 53">
                      <a:extLst>
                        <a:ext uri="{FF2B5EF4-FFF2-40B4-BE49-F238E27FC236}">
                          <a16:creationId xmlns:a16="http://schemas.microsoft.com/office/drawing/2014/main" id="{F5AC822E-9A53-499C-8356-5B3BB91AC5E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37611762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5" name="Рисунок 54">
                      <a:extLst>
                        <a:ext uri="{FF2B5EF4-FFF2-40B4-BE49-F238E27FC236}">
                          <a16:creationId xmlns:a16="http://schemas.microsoft.com/office/drawing/2014/main" id="{28F6AA5A-5C49-4E58-8C30-1412B1D61D7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46723106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Прямоугольник 55">
                      <a:extLst>
                        <a:ext uri="{FF2B5EF4-FFF2-40B4-BE49-F238E27FC236}">
                          <a16:creationId xmlns:a16="http://schemas.microsoft.com/office/drawing/2014/main" id="{BD1B9657-F87E-4AC4-BBB2-E003143079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7586" y="1051034"/>
                      <a:ext cx="6894786" cy="4750676"/>
                    </a:xfrm>
                    <a:prstGeom prst="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A4944157-1236-40CE-A72A-F39857BEBC31}"/>
                      </a:ext>
                    </a:extLst>
                  </p:cNvPr>
                  <p:cNvSpPr txBox="1"/>
                  <p:nvPr/>
                </p:nvSpPr>
                <p:spPr>
                  <a:xfrm>
                    <a:off x="2953407" y="1418897"/>
                    <a:ext cx="6159062" cy="40934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      </a:r>
                    <a:r>
                      <a:rPr lang="ru-RU" sz="2000" b="1" i="0" dirty="0" err="1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</a:t>
                    </a:r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-менеджер, что это не только способ сделать работу проще, и эффективнее. Поэтому, если хотите знать какой выбрать </a:t>
                    </a:r>
                    <a:r>
                      <a:rPr lang="ru-RU" sz="2000" b="1" i="0" dirty="0" err="1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</a:t>
                    </a:r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 менеджер, что это такое и как правильно использовать — эта статья для вас.</a:t>
                    </a:r>
                    <a:endParaRPr lang="ru-RU" sz="2000" b="1" dirty="0"/>
                  </a:p>
                </p:txBody>
              </p:sp>
            </p:grpSp>
            <p:sp>
              <p:nvSpPr>
                <p:cNvPr id="44" name="Прямоугольник 43">
                  <a:extLst>
                    <a:ext uri="{FF2B5EF4-FFF2-40B4-BE49-F238E27FC236}">
                      <a16:creationId xmlns:a16="http://schemas.microsoft.com/office/drawing/2014/main" id="{FF929E05-A7B5-44D1-9861-89B372A47963}"/>
                    </a:ext>
                  </a:extLst>
                </p:cNvPr>
                <p:cNvSpPr/>
                <p:nvPr/>
              </p:nvSpPr>
              <p:spPr>
                <a:xfrm>
                  <a:off x="2307392" y="1087645"/>
                  <a:ext cx="6894786" cy="4750676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F496A82-3478-4C80-A8F0-CE5D14AB7638}"/>
                    </a:ext>
                  </a:extLst>
                </p:cNvPr>
                <p:cNvSpPr txBox="1"/>
                <p:nvPr/>
              </p:nvSpPr>
              <p:spPr>
                <a:xfrm>
                  <a:off x="2675254" y="1146336"/>
                  <a:ext cx="6159062" cy="20621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2400" dirty="0">
                      <a:ln w="0"/>
                      <a:solidFill>
                        <a:schemeClr val="bg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ВСЕ В ОДНОМ ОКНЕ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Все задачи – в единой таблице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Фильтры по статусы, автору, исполнителю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Кнопка «Создать задачу» – 10 секунд на постановку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Удобно менеджеру, понятно сотруднику </a:t>
                  </a:r>
                </a:p>
                <a:p>
                  <a:pPr algn="ctr"/>
                  <a:endParaRPr lang="ru-RU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endParaRPr>
                </a:p>
              </p:txBody>
            </p:sp>
            <p:pic>
              <p:nvPicPr>
                <p:cNvPr id="46" name="Рисунок 45">
                  <a:extLst>
                    <a:ext uri="{FF2B5EF4-FFF2-40B4-BE49-F238E27FC236}">
                      <a16:creationId xmlns:a16="http://schemas.microsoft.com/office/drawing/2014/main" id="{9EB03FE0-8893-4D0A-BD91-2A0536A1F7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559" t="1272" r="24737" b="55953"/>
                <a:stretch/>
              </p:blipFill>
              <p:spPr>
                <a:xfrm>
                  <a:off x="2826192" y="2952819"/>
                  <a:ext cx="6008124" cy="2708969"/>
                </a:xfrm>
                <a:prstGeom prst="rect">
                  <a:avLst/>
                </a:prstGeom>
                <a:ln w="127000" cap="sq">
                  <a:solidFill>
                    <a:srgbClr val="000000"/>
                  </a:solidFill>
                  <a:miter lim="800000"/>
                </a:ln>
                <a:effectLst>
                  <a:outerShdw blurRad="57150" dist="50800" dir="2700000" algn="tl" rotWithShape="0">
                    <a:srgbClr val="000000">
                      <a:alpha val="40000"/>
                    </a:srgbClr>
                  </a:outerShdw>
                </a:effectLst>
              </p:spPr>
            </p:pic>
          </p:grpSp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F290D0C4-070C-48C8-B82E-3B36486315A3}"/>
                  </a:ext>
                </a:extLst>
              </p:cNvPr>
              <p:cNvSpPr/>
              <p:nvPr/>
            </p:nvSpPr>
            <p:spPr>
              <a:xfrm>
                <a:off x="2307392" y="1087645"/>
                <a:ext cx="6894786" cy="47506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F7BEE30-9476-4BA9-9476-FFA146B42E1F}"/>
                  </a:ext>
                </a:extLst>
              </p:cNvPr>
              <p:cNvSpPr txBox="1"/>
              <p:nvPr/>
            </p:nvSpPr>
            <p:spPr>
              <a:xfrm>
                <a:off x="2675254" y="1146336"/>
                <a:ext cx="615906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ГРУППИРУЙТЕ ЗАДАЧИ ПО МЕТКАМ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Создавайте любые метки под свои проекты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Примеры: </a:t>
                </a:r>
                <a:r>
                  <a:rPr lang="en-US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 Fronted, Backend, Bug, Docs</a:t>
                </a:r>
                <a:endPara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endParaRP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У каждой метки – имя, описания, дата создания</a:t>
                </a:r>
                <a:endParaRPr lang="ru-RU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endParaRPr>
              </a:p>
            </p:txBody>
          </p:sp>
          <p:pic>
            <p:nvPicPr>
              <p:cNvPr id="42" name="Рисунок 41">
                <a:extLst>
                  <a:ext uri="{FF2B5EF4-FFF2-40B4-BE49-F238E27FC236}">
                    <a16:creationId xmlns:a16="http://schemas.microsoft.com/office/drawing/2014/main" id="{03FFF7C3-1C14-4A72-A10F-8A96287D12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032" t="431" r="23774" b="57206"/>
              <a:stretch/>
            </p:blipFill>
            <p:spPr>
              <a:xfrm>
                <a:off x="2571251" y="2790825"/>
                <a:ext cx="6363578" cy="2814852"/>
              </a:xfrm>
              <a:prstGeom prst="rect">
                <a:avLst/>
              </a:prstGeom>
              <a:ln w="127000" cap="sq">
                <a:solidFill>
                  <a:srgbClr val="000000"/>
                </a:solidFill>
                <a:miter lim="800000"/>
              </a:ln>
              <a:effectLst>
                <a:outerShdw blurRad="57150" dist="508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950A2EC3-F8AC-4688-B312-CC7FE7530B83}"/>
                </a:ext>
              </a:extLst>
            </p:cNvPr>
            <p:cNvSpPr/>
            <p:nvPr/>
          </p:nvSpPr>
          <p:spPr>
            <a:xfrm>
              <a:off x="2267368" y="1051034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24A3AB-FF1D-4196-850D-C669CBCD4893}"/>
                </a:ext>
              </a:extLst>
            </p:cNvPr>
            <p:cNvSpPr txBox="1"/>
            <p:nvPr/>
          </p:nvSpPr>
          <p:spPr>
            <a:xfrm>
              <a:off x="2675254" y="1146336"/>
              <a:ext cx="615906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КОНТРОЛИРУЙТЕ ЭТАПЫ РАБОТ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Статусы показывают, на каком этапе задача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Вы сами </a:t>
              </a:r>
              <a:r>
                <a:rPr lang="ru-RU" sz="20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создаёете</a:t>
              </a:r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, меняете и удаляете статусы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Никто не скажет «я не знал, что это срочно»</a:t>
              </a:r>
            </a:p>
          </p:txBody>
        </p:sp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15130F57-1978-45B2-9C21-2C4689995C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5" r="24621" b="59751"/>
            <a:stretch/>
          </p:blipFill>
          <p:spPr>
            <a:xfrm>
              <a:off x="2567122" y="2846028"/>
              <a:ext cx="6295278" cy="2674416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522797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18CBCD58-A55C-4698-8EC9-0F3E6CDB2077}"/>
              </a:ext>
            </a:extLst>
          </p:cNvPr>
          <p:cNvGrpSpPr/>
          <p:nvPr/>
        </p:nvGrpSpPr>
        <p:grpSpPr>
          <a:xfrm>
            <a:off x="-35639203" y="425502"/>
            <a:ext cx="46339111" cy="5991227"/>
            <a:chOff x="-26527859" y="425502"/>
            <a:chExt cx="46339111" cy="5991227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0E300EF9-5688-46E2-AA57-CAF8C6BD32A5}"/>
                </a:ext>
              </a:extLst>
            </p:cNvPr>
            <p:cNvGrpSpPr/>
            <p:nvPr/>
          </p:nvGrpSpPr>
          <p:grpSpPr>
            <a:xfrm>
              <a:off x="-26527859" y="425502"/>
              <a:ext cx="46339111" cy="5991227"/>
              <a:chOff x="-17414771" y="428130"/>
              <a:chExt cx="46339111" cy="5991227"/>
            </a:xfrm>
          </p:grpSpPr>
          <p:grpSp>
            <p:nvGrpSpPr>
              <p:cNvPr id="39" name="Группа 38">
                <a:extLst>
                  <a:ext uri="{FF2B5EF4-FFF2-40B4-BE49-F238E27FC236}">
                    <a16:creationId xmlns:a16="http://schemas.microsoft.com/office/drawing/2014/main" id="{C70C6EE2-59D5-4ACA-A35B-B3ED045AA546}"/>
                  </a:ext>
                </a:extLst>
              </p:cNvPr>
              <p:cNvGrpSpPr/>
              <p:nvPr/>
            </p:nvGrpSpPr>
            <p:grpSpPr>
              <a:xfrm>
                <a:off x="-17414771" y="428130"/>
                <a:ext cx="46339111" cy="5991227"/>
                <a:chOff x="-8301683" y="430758"/>
                <a:chExt cx="46339111" cy="5991227"/>
              </a:xfrm>
            </p:grpSpPr>
            <p:grpSp>
              <p:nvGrpSpPr>
                <p:cNvPr id="43" name="Группа 42">
                  <a:extLst>
                    <a:ext uri="{FF2B5EF4-FFF2-40B4-BE49-F238E27FC236}">
                      <a16:creationId xmlns:a16="http://schemas.microsoft.com/office/drawing/2014/main" id="{92930519-E317-4328-B22F-B0BE03DD9950}"/>
                    </a:ext>
                  </a:extLst>
                </p:cNvPr>
                <p:cNvGrpSpPr/>
                <p:nvPr/>
              </p:nvGrpSpPr>
              <p:grpSpPr>
                <a:xfrm>
                  <a:off x="-8301683" y="430758"/>
                  <a:ext cx="46339111" cy="5991227"/>
                  <a:chOff x="1169879" y="433386"/>
                  <a:chExt cx="46339111" cy="5991227"/>
                </a:xfrm>
              </p:grpSpPr>
              <p:grpSp>
                <p:nvGrpSpPr>
                  <p:cNvPr id="47" name="Группа 46">
                    <a:extLst>
                      <a:ext uri="{FF2B5EF4-FFF2-40B4-BE49-F238E27FC236}">
                        <a16:creationId xmlns:a16="http://schemas.microsoft.com/office/drawing/2014/main" id="{8DC03C14-7796-45C8-8039-8869E0A8C00F}"/>
                      </a:ext>
                    </a:extLst>
                  </p:cNvPr>
                  <p:cNvGrpSpPr/>
                  <p:nvPr/>
                </p:nvGrpSpPr>
                <p:grpSpPr>
                  <a:xfrm>
                    <a:off x="1169879" y="433386"/>
                    <a:ext cx="46339111" cy="5991227"/>
                    <a:chOff x="1169879" y="433386"/>
                    <a:chExt cx="46339111" cy="5991227"/>
                  </a:xfrm>
                </p:grpSpPr>
                <p:grpSp>
                  <p:nvGrpSpPr>
                    <p:cNvPr id="49" name="Группа 48">
                      <a:extLst>
                        <a:ext uri="{FF2B5EF4-FFF2-40B4-BE49-F238E27FC236}">
                          <a16:creationId xmlns:a16="http://schemas.microsoft.com/office/drawing/2014/main" id="{E3B83A30-13D1-4E91-9AD3-DBDCB76F79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2861" y="433386"/>
                      <a:ext cx="44609658" cy="5991227"/>
                      <a:chOff x="2013857" y="433385"/>
                      <a:chExt cx="44609658" cy="5991227"/>
                    </a:xfrm>
                  </p:grpSpPr>
                  <p:pic>
                    <p:nvPicPr>
                      <p:cNvPr id="57" name="Picture 4" descr="Picture background">
                        <a:extLst>
                          <a:ext uri="{FF2B5EF4-FFF2-40B4-BE49-F238E27FC236}">
                            <a16:creationId xmlns:a16="http://schemas.microsoft.com/office/drawing/2014/main" id="{D8683ECE-B5CD-4480-98B4-29A72A977C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857" y="433387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58" name="Picture 8" descr="Picture background">
                        <a:extLst>
                          <a:ext uri="{FF2B5EF4-FFF2-40B4-BE49-F238E27FC236}">
                            <a16:creationId xmlns:a16="http://schemas.microsoft.com/office/drawing/2014/main" id="{B6D03790-CCEB-4820-9D3F-233E9EBE54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5200" y="433386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59" name="Picture 10" descr="Picture background">
                        <a:extLst>
                          <a:ext uri="{FF2B5EF4-FFF2-40B4-BE49-F238E27FC236}">
                            <a16:creationId xmlns:a16="http://schemas.microsoft.com/office/drawing/2014/main" id="{E9FA4B33-C774-41C6-82CE-2DE9C21102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6543" y="433386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0" name="Picture 12" descr="Picture background">
                        <a:extLst>
                          <a:ext uri="{FF2B5EF4-FFF2-40B4-BE49-F238E27FC236}">
                            <a16:creationId xmlns:a16="http://schemas.microsoft.com/office/drawing/2014/main" id="{F222C329-47D5-46A0-B2D6-AA670CCF2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7886" y="433385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1" name="Picture 14" descr="Picture background">
                        <a:extLst>
                          <a:ext uri="{FF2B5EF4-FFF2-40B4-BE49-F238E27FC236}">
                            <a16:creationId xmlns:a16="http://schemas.microsoft.com/office/drawing/2014/main" id="{6A5629D5-5493-4702-8CA0-5CB2062AD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9229" y="433385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pic>
                  <p:nvPicPr>
                    <p:cNvPr id="50" name="Рисунок 49">
                      <a:extLst>
                        <a:ext uri="{FF2B5EF4-FFF2-40B4-BE49-F238E27FC236}">
                          <a16:creationId xmlns:a16="http://schemas.microsoft.com/office/drawing/2014/main" id="{0969A7A5-1A0F-46AC-A3A1-E35E56427DA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169879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1" name="Рисунок 50">
                      <a:extLst>
                        <a:ext uri="{FF2B5EF4-FFF2-40B4-BE49-F238E27FC236}">
                          <a16:creationId xmlns:a16="http://schemas.microsoft.com/office/drawing/2014/main" id="{D035C9BD-52CE-4D53-8D83-907D2EC82D6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0277733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2" name="Рисунок 51">
                      <a:extLst>
                        <a:ext uri="{FF2B5EF4-FFF2-40B4-BE49-F238E27FC236}">
                          <a16:creationId xmlns:a16="http://schemas.microsoft.com/office/drawing/2014/main" id="{715BB4B9-C55A-4224-990B-89983114356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9378266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3" name="Рисунок 52">
                      <a:extLst>
                        <a:ext uri="{FF2B5EF4-FFF2-40B4-BE49-F238E27FC236}">
                          <a16:creationId xmlns:a16="http://schemas.microsoft.com/office/drawing/2014/main" id="{E8D0CB69-37C4-4FA9-BFF7-5E1073AE9FF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28511230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4" name="Рисунок 53">
                      <a:extLst>
                        <a:ext uri="{FF2B5EF4-FFF2-40B4-BE49-F238E27FC236}">
                          <a16:creationId xmlns:a16="http://schemas.microsoft.com/office/drawing/2014/main" id="{F5AC822E-9A53-499C-8356-5B3BB91AC5E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37611762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5" name="Рисунок 54">
                      <a:extLst>
                        <a:ext uri="{FF2B5EF4-FFF2-40B4-BE49-F238E27FC236}">
                          <a16:creationId xmlns:a16="http://schemas.microsoft.com/office/drawing/2014/main" id="{28F6AA5A-5C49-4E58-8C30-1412B1D61D7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46723106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Прямоугольник 55">
                      <a:extLst>
                        <a:ext uri="{FF2B5EF4-FFF2-40B4-BE49-F238E27FC236}">
                          <a16:creationId xmlns:a16="http://schemas.microsoft.com/office/drawing/2014/main" id="{BD1B9657-F87E-4AC4-BBB2-E003143079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7586" y="1051034"/>
                      <a:ext cx="6894786" cy="4750676"/>
                    </a:xfrm>
                    <a:prstGeom prst="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A4944157-1236-40CE-A72A-F39857BEBC31}"/>
                      </a:ext>
                    </a:extLst>
                  </p:cNvPr>
                  <p:cNvSpPr txBox="1"/>
                  <p:nvPr/>
                </p:nvSpPr>
                <p:spPr>
                  <a:xfrm>
                    <a:off x="2953407" y="1418897"/>
                    <a:ext cx="6159062" cy="40934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      </a:r>
                    <a:r>
                      <a:rPr lang="ru-RU" sz="2000" b="1" i="0" dirty="0" err="1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</a:t>
                    </a:r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-менеджер, что это не только способ сделать работу проще, и эффективнее. Поэтому, если хотите знать какой выбрать </a:t>
                    </a:r>
                    <a:r>
                      <a:rPr lang="ru-RU" sz="2000" b="1" i="0" dirty="0" err="1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</a:t>
                    </a:r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 менеджер, что это такое и как правильно использовать — эта статья для вас.</a:t>
                    </a:r>
                    <a:endParaRPr lang="ru-RU" sz="2000" b="1" dirty="0"/>
                  </a:p>
                </p:txBody>
              </p:sp>
            </p:grpSp>
            <p:sp>
              <p:nvSpPr>
                <p:cNvPr id="44" name="Прямоугольник 43">
                  <a:extLst>
                    <a:ext uri="{FF2B5EF4-FFF2-40B4-BE49-F238E27FC236}">
                      <a16:creationId xmlns:a16="http://schemas.microsoft.com/office/drawing/2014/main" id="{FF929E05-A7B5-44D1-9861-89B372A47963}"/>
                    </a:ext>
                  </a:extLst>
                </p:cNvPr>
                <p:cNvSpPr/>
                <p:nvPr/>
              </p:nvSpPr>
              <p:spPr>
                <a:xfrm>
                  <a:off x="2307392" y="1087645"/>
                  <a:ext cx="6894786" cy="4750676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F496A82-3478-4C80-A8F0-CE5D14AB7638}"/>
                    </a:ext>
                  </a:extLst>
                </p:cNvPr>
                <p:cNvSpPr txBox="1"/>
                <p:nvPr/>
              </p:nvSpPr>
              <p:spPr>
                <a:xfrm>
                  <a:off x="2675254" y="1146336"/>
                  <a:ext cx="6159062" cy="20621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2400" dirty="0">
                      <a:ln w="0"/>
                      <a:solidFill>
                        <a:schemeClr val="bg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ВСЕ В ОДНОМ ОКНЕ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Все задачи – в единой таблице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Фильтры по статусы, автору, исполнителю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Кнопка «Создать задачу» – 10 секунд на постановку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Удобно менеджеру, понятно сотруднику </a:t>
                  </a:r>
                </a:p>
                <a:p>
                  <a:pPr algn="ctr"/>
                  <a:endParaRPr lang="ru-RU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endParaRPr>
                </a:p>
              </p:txBody>
            </p:sp>
            <p:pic>
              <p:nvPicPr>
                <p:cNvPr id="46" name="Рисунок 45">
                  <a:extLst>
                    <a:ext uri="{FF2B5EF4-FFF2-40B4-BE49-F238E27FC236}">
                      <a16:creationId xmlns:a16="http://schemas.microsoft.com/office/drawing/2014/main" id="{9EB03FE0-8893-4D0A-BD91-2A0536A1F7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559" t="1272" r="24737" b="55953"/>
                <a:stretch/>
              </p:blipFill>
              <p:spPr>
                <a:xfrm>
                  <a:off x="2826192" y="2952819"/>
                  <a:ext cx="6008124" cy="2708969"/>
                </a:xfrm>
                <a:prstGeom prst="rect">
                  <a:avLst/>
                </a:prstGeom>
                <a:ln w="127000" cap="sq">
                  <a:solidFill>
                    <a:srgbClr val="000000"/>
                  </a:solidFill>
                  <a:miter lim="800000"/>
                </a:ln>
                <a:effectLst>
                  <a:outerShdw blurRad="57150" dist="50800" dir="2700000" algn="tl" rotWithShape="0">
                    <a:srgbClr val="000000">
                      <a:alpha val="40000"/>
                    </a:srgbClr>
                  </a:outerShdw>
                </a:effectLst>
              </p:spPr>
            </p:pic>
          </p:grpSp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F290D0C4-070C-48C8-B82E-3B36486315A3}"/>
                  </a:ext>
                </a:extLst>
              </p:cNvPr>
              <p:cNvSpPr/>
              <p:nvPr/>
            </p:nvSpPr>
            <p:spPr>
              <a:xfrm>
                <a:off x="2307392" y="1087645"/>
                <a:ext cx="6894786" cy="47506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F7BEE30-9476-4BA9-9476-FFA146B42E1F}"/>
                  </a:ext>
                </a:extLst>
              </p:cNvPr>
              <p:cNvSpPr txBox="1"/>
              <p:nvPr/>
            </p:nvSpPr>
            <p:spPr>
              <a:xfrm>
                <a:off x="2675254" y="1146336"/>
                <a:ext cx="615906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ГРУППИРУЙТЕ ЗАДАЧИ ПО МЕТКАМ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Создавайте любые метки под свои проекты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Примеры: </a:t>
                </a:r>
                <a:r>
                  <a:rPr lang="en-US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 Fronted, Backend, Bug, Docs</a:t>
                </a:r>
                <a:endPara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endParaRP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У каждой метки – имя, описания, дата создания</a:t>
                </a:r>
                <a:endParaRPr lang="ru-RU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endParaRPr>
              </a:p>
            </p:txBody>
          </p:sp>
          <p:pic>
            <p:nvPicPr>
              <p:cNvPr id="42" name="Рисунок 41">
                <a:extLst>
                  <a:ext uri="{FF2B5EF4-FFF2-40B4-BE49-F238E27FC236}">
                    <a16:creationId xmlns:a16="http://schemas.microsoft.com/office/drawing/2014/main" id="{03FFF7C3-1C14-4A72-A10F-8A96287D12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032" t="431" r="23774" b="57206"/>
              <a:stretch/>
            </p:blipFill>
            <p:spPr>
              <a:xfrm>
                <a:off x="2571251" y="2790825"/>
                <a:ext cx="6363578" cy="2814852"/>
              </a:xfrm>
              <a:prstGeom prst="rect">
                <a:avLst/>
              </a:prstGeom>
              <a:ln w="127000" cap="sq">
                <a:solidFill>
                  <a:srgbClr val="000000"/>
                </a:solidFill>
                <a:miter lim="800000"/>
              </a:ln>
              <a:effectLst>
                <a:outerShdw blurRad="57150" dist="508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950A2EC3-F8AC-4688-B312-CC7FE7530B83}"/>
                </a:ext>
              </a:extLst>
            </p:cNvPr>
            <p:cNvSpPr/>
            <p:nvPr/>
          </p:nvSpPr>
          <p:spPr>
            <a:xfrm>
              <a:off x="2267368" y="1051034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24A3AB-FF1D-4196-850D-C669CBCD4893}"/>
                </a:ext>
              </a:extLst>
            </p:cNvPr>
            <p:cNvSpPr txBox="1"/>
            <p:nvPr/>
          </p:nvSpPr>
          <p:spPr>
            <a:xfrm>
              <a:off x="2675254" y="1146336"/>
              <a:ext cx="615906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КОНТРОЛИРУЙТЕ ЭТАПЫ РАБОТ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Статусы показывают, на каком этапе задача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Вы сами </a:t>
              </a:r>
              <a:r>
                <a:rPr lang="ru-RU" sz="20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создаёете</a:t>
              </a:r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, меняете и удаляете статусы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Никто не скажет «я не знал, что это срочно»</a:t>
              </a:r>
            </a:p>
          </p:txBody>
        </p:sp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15130F57-1978-45B2-9C21-2C4689995C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5" r="24621" b="59751"/>
            <a:stretch/>
          </p:blipFill>
          <p:spPr>
            <a:xfrm>
              <a:off x="2567122" y="2846028"/>
              <a:ext cx="6295278" cy="2674416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121DF091-0F58-4A6B-923A-7A4721E3608F}"/>
              </a:ext>
            </a:extLst>
          </p:cNvPr>
          <p:cNvSpPr/>
          <p:nvPr/>
        </p:nvSpPr>
        <p:spPr>
          <a:xfrm>
            <a:off x="2267368" y="1051034"/>
            <a:ext cx="6894786" cy="47506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879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AC6B85-9364-4280-878D-345ABF703799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18CBCD58-A55C-4698-8EC9-0F3E6CDB2077}"/>
              </a:ext>
            </a:extLst>
          </p:cNvPr>
          <p:cNvGrpSpPr/>
          <p:nvPr/>
        </p:nvGrpSpPr>
        <p:grpSpPr>
          <a:xfrm>
            <a:off x="-35639203" y="425502"/>
            <a:ext cx="46339111" cy="5991227"/>
            <a:chOff x="-26527859" y="425502"/>
            <a:chExt cx="46339111" cy="5991227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0E300EF9-5688-46E2-AA57-CAF8C6BD32A5}"/>
                </a:ext>
              </a:extLst>
            </p:cNvPr>
            <p:cNvGrpSpPr/>
            <p:nvPr/>
          </p:nvGrpSpPr>
          <p:grpSpPr>
            <a:xfrm>
              <a:off x="-26527859" y="425502"/>
              <a:ext cx="46339111" cy="5991227"/>
              <a:chOff x="-17414771" y="428130"/>
              <a:chExt cx="46339111" cy="5991227"/>
            </a:xfrm>
          </p:grpSpPr>
          <p:grpSp>
            <p:nvGrpSpPr>
              <p:cNvPr id="39" name="Группа 38">
                <a:extLst>
                  <a:ext uri="{FF2B5EF4-FFF2-40B4-BE49-F238E27FC236}">
                    <a16:creationId xmlns:a16="http://schemas.microsoft.com/office/drawing/2014/main" id="{C70C6EE2-59D5-4ACA-A35B-B3ED045AA546}"/>
                  </a:ext>
                </a:extLst>
              </p:cNvPr>
              <p:cNvGrpSpPr/>
              <p:nvPr/>
            </p:nvGrpSpPr>
            <p:grpSpPr>
              <a:xfrm>
                <a:off x="-17414771" y="428130"/>
                <a:ext cx="46339111" cy="5991227"/>
                <a:chOff x="-8301683" y="430758"/>
                <a:chExt cx="46339111" cy="5991227"/>
              </a:xfrm>
            </p:grpSpPr>
            <p:grpSp>
              <p:nvGrpSpPr>
                <p:cNvPr id="43" name="Группа 42">
                  <a:extLst>
                    <a:ext uri="{FF2B5EF4-FFF2-40B4-BE49-F238E27FC236}">
                      <a16:creationId xmlns:a16="http://schemas.microsoft.com/office/drawing/2014/main" id="{92930519-E317-4328-B22F-B0BE03DD9950}"/>
                    </a:ext>
                  </a:extLst>
                </p:cNvPr>
                <p:cNvGrpSpPr/>
                <p:nvPr/>
              </p:nvGrpSpPr>
              <p:grpSpPr>
                <a:xfrm>
                  <a:off x="-8301683" y="430758"/>
                  <a:ext cx="46339111" cy="5991227"/>
                  <a:chOff x="1169879" y="433386"/>
                  <a:chExt cx="46339111" cy="5991227"/>
                </a:xfrm>
              </p:grpSpPr>
              <p:grpSp>
                <p:nvGrpSpPr>
                  <p:cNvPr id="47" name="Группа 46">
                    <a:extLst>
                      <a:ext uri="{FF2B5EF4-FFF2-40B4-BE49-F238E27FC236}">
                        <a16:creationId xmlns:a16="http://schemas.microsoft.com/office/drawing/2014/main" id="{8DC03C14-7796-45C8-8039-8869E0A8C00F}"/>
                      </a:ext>
                    </a:extLst>
                  </p:cNvPr>
                  <p:cNvGrpSpPr/>
                  <p:nvPr/>
                </p:nvGrpSpPr>
                <p:grpSpPr>
                  <a:xfrm>
                    <a:off x="1169879" y="433386"/>
                    <a:ext cx="46339111" cy="5991227"/>
                    <a:chOff x="1169879" y="433386"/>
                    <a:chExt cx="46339111" cy="5991227"/>
                  </a:xfrm>
                </p:grpSpPr>
                <p:grpSp>
                  <p:nvGrpSpPr>
                    <p:cNvPr id="49" name="Группа 48">
                      <a:extLst>
                        <a:ext uri="{FF2B5EF4-FFF2-40B4-BE49-F238E27FC236}">
                          <a16:creationId xmlns:a16="http://schemas.microsoft.com/office/drawing/2014/main" id="{E3B83A30-13D1-4E91-9AD3-DBDCB76F79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2861" y="433386"/>
                      <a:ext cx="44609658" cy="5991227"/>
                      <a:chOff x="2013857" y="433385"/>
                      <a:chExt cx="44609658" cy="5991227"/>
                    </a:xfrm>
                  </p:grpSpPr>
                  <p:pic>
                    <p:nvPicPr>
                      <p:cNvPr id="57" name="Picture 4" descr="Picture background">
                        <a:extLst>
                          <a:ext uri="{FF2B5EF4-FFF2-40B4-BE49-F238E27FC236}">
                            <a16:creationId xmlns:a16="http://schemas.microsoft.com/office/drawing/2014/main" id="{D8683ECE-B5CD-4480-98B4-29A72A977C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857" y="433387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58" name="Picture 8" descr="Picture background">
                        <a:extLst>
                          <a:ext uri="{FF2B5EF4-FFF2-40B4-BE49-F238E27FC236}">
                            <a16:creationId xmlns:a16="http://schemas.microsoft.com/office/drawing/2014/main" id="{B6D03790-CCEB-4820-9D3F-233E9EBE54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5200" y="433386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59" name="Picture 10" descr="Picture background">
                        <a:extLst>
                          <a:ext uri="{FF2B5EF4-FFF2-40B4-BE49-F238E27FC236}">
                            <a16:creationId xmlns:a16="http://schemas.microsoft.com/office/drawing/2014/main" id="{E9FA4B33-C774-41C6-82CE-2DE9C21102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6543" y="433386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0" name="Picture 12" descr="Picture background">
                        <a:extLst>
                          <a:ext uri="{FF2B5EF4-FFF2-40B4-BE49-F238E27FC236}">
                            <a16:creationId xmlns:a16="http://schemas.microsoft.com/office/drawing/2014/main" id="{F222C329-47D5-46A0-B2D6-AA670CCF2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7886" y="433385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pic>
                    <p:nvPicPr>
                      <p:cNvPr id="61" name="Picture 14" descr="Picture background">
                        <a:extLst>
                          <a:ext uri="{FF2B5EF4-FFF2-40B4-BE49-F238E27FC236}">
                            <a16:creationId xmlns:a16="http://schemas.microsoft.com/office/drawing/2014/main" id="{6A5629D5-5493-4702-8CA0-5CB2062AD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9229" y="433385"/>
                        <a:ext cx="8164286" cy="599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pic>
                  <p:nvPicPr>
                    <p:cNvPr id="50" name="Рисунок 49">
                      <a:extLst>
                        <a:ext uri="{FF2B5EF4-FFF2-40B4-BE49-F238E27FC236}">
                          <a16:creationId xmlns:a16="http://schemas.microsoft.com/office/drawing/2014/main" id="{0969A7A5-1A0F-46AC-A3A1-E35E56427DA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169879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1" name="Рисунок 50">
                      <a:extLst>
                        <a:ext uri="{FF2B5EF4-FFF2-40B4-BE49-F238E27FC236}">
                          <a16:creationId xmlns:a16="http://schemas.microsoft.com/office/drawing/2014/main" id="{D035C9BD-52CE-4D53-8D83-907D2EC82D6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0277733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2" name="Рисунок 51">
                      <a:extLst>
                        <a:ext uri="{FF2B5EF4-FFF2-40B4-BE49-F238E27FC236}">
                          <a16:creationId xmlns:a16="http://schemas.microsoft.com/office/drawing/2014/main" id="{715BB4B9-C55A-4224-990B-89983114356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9378266" y="3036058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3" name="Рисунок 52">
                      <a:extLst>
                        <a:ext uri="{FF2B5EF4-FFF2-40B4-BE49-F238E27FC236}">
                          <a16:creationId xmlns:a16="http://schemas.microsoft.com/office/drawing/2014/main" id="{E8D0CB69-37C4-4FA9-BFF7-5E1073AE9FF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28511230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4" name="Рисунок 53">
                      <a:extLst>
                        <a:ext uri="{FF2B5EF4-FFF2-40B4-BE49-F238E27FC236}">
                          <a16:creationId xmlns:a16="http://schemas.microsoft.com/office/drawing/2014/main" id="{F5AC822E-9A53-499C-8356-5B3BB91AC5E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37611762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5" name="Рисунок 54">
                      <a:extLst>
                        <a:ext uri="{FF2B5EF4-FFF2-40B4-BE49-F238E27FC236}">
                          <a16:creationId xmlns:a16="http://schemas.microsoft.com/office/drawing/2014/main" id="{28F6AA5A-5C49-4E58-8C30-1412B1D61D7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46723106" y="3036056"/>
                      <a:ext cx="785884" cy="78588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Прямоугольник 55">
                      <a:extLst>
                        <a:ext uri="{FF2B5EF4-FFF2-40B4-BE49-F238E27FC236}">
                          <a16:creationId xmlns:a16="http://schemas.microsoft.com/office/drawing/2014/main" id="{BD1B9657-F87E-4AC4-BBB2-E003143079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7586" y="1051034"/>
                      <a:ext cx="6894786" cy="4750676"/>
                    </a:xfrm>
                    <a:prstGeom prst="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A4944157-1236-40CE-A72A-F39857BEBC31}"/>
                      </a:ext>
                    </a:extLst>
                  </p:cNvPr>
                  <p:cNvSpPr txBox="1"/>
                  <p:nvPr/>
                </p:nvSpPr>
                <p:spPr>
                  <a:xfrm>
                    <a:off x="2953407" y="1418897"/>
                    <a:ext cx="6159062" cy="40934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 менеджер — это программа, которая делает управление проектами проще. Но при этом использовать такое ПО можно не только для проектной работы, но и при выполнении повседневных дел. Таск менеджер помогает проверить эффективность сотрудников, а также поставить задачи и проследить за их выполнением. Важно понимать, используя </a:t>
                    </a:r>
                    <a:r>
                      <a:rPr lang="ru-RU" sz="2000" b="1" i="0" dirty="0" err="1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</a:t>
                    </a:r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-менеджер, что это не только способ сделать работу проще, и эффективнее. Поэтому, если хотите знать какой выбрать </a:t>
                    </a:r>
                    <a:r>
                      <a:rPr lang="ru-RU" sz="2000" b="1" i="0" dirty="0" err="1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таск</a:t>
                    </a:r>
                    <a:r>
                      <a:rPr lang="ru-RU" sz="2000" b="1" i="0" dirty="0">
                        <a:solidFill>
                          <a:srgbClr val="2D3234"/>
                        </a:solidFill>
                        <a:effectLst/>
                        <a:latin typeface="Helvetica" panose="020B0604020202020204" pitchFamily="34" charset="0"/>
                      </a:rPr>
                      <a:t> менеджер, что это такое и как правильно использовать — эта статья для вас.</a:t>
                    </a:r>
                    <a:endParaRPr lang="ru-RU" sz="2000" b="1" dirty="0"/>
                  </a:p>
                </p:txBody>
              </p:sp>
            </p:grpSp>
            <p:sp>
              <p:nvSpPr>
                <p:cNvPr id="44" name="Прямоугольник 43">
                  <a:extLst>
                    <a:ext uri="{FF2B5EF4-FFF2-40B4-BE49-F238E27FC236}">
                      <a16:creationId xmlns:a16="http://schemas.microsoft.com/office/drawing/2014/main" id="{FF929E05-A7B5-44D1-9861-89B372A47963}"/>
                    </a:ext>
                  </a:extLst>
                </p:cNvPr>
                <p:cNvSpPr/>
                <p:nvPr/>
              </p:nvSpPr>
              <p:spPr>
                <a:xfrm>
                  <a:off x="2307392" y="1087645"/>
                  <a:ext cx="6894786" cy="4750676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F496A82-3478-4C80-A8F0-CE5D14AB7638}"/>
                    </a:ext>
                  </a:extLst>
                </p:cNvPr>
                <p:cNvSpPr txBox="1"/>
                <p:nvPr/>
              </p:nvSpPr>
              <p:spPr>
                <a:xfrm>
                  <a:off x="2675254" y="1146336"/>
                  <a:ext cx="6159062" cy="20621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2400" dirty="0">
                      <a:ln w="0"/>
                      <a:solidFill>
                        <a:schemeClr val="bg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ВСЕ В ОДНОМ ОКНЕ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Все задачи – в единой таблице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Фильтры по статусы, автору, исполнителю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Кнопка «Создать задачу» – 10 секунд на постановку</a:t>
                  </a:r>
                </a:p>
                <a:p>
                  <a:pPr algn="ctr"/>
                  <a:r>
                    <a:rPr lang="ru-RU" sz="20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Monomakh Unicode" panose="02060703080006000000" pitchFamily="18" charset="0"/>
                      <a:ea typeface="Monomakh Unicode" panose="02060703080006000000" pitchFamily="18" charset="0"/>
                    </a:rPr>
                    <a:t>Удобно менеджеру, понятно сотруднику </a:t>
                  </a:r>
                </a:p>
                <a:p>
                  <a:pPr algn="ctr"/>
                  <a:endParaRPr lang="ru-RU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endParaRPr>
                </a:p>
              </p:txBody>
            </p:sp>
            <p:pic>
              <p:nvPicPr>
                <p:cNvPr id="46" name="Рисунок 45">
                  <a:extLst>
                    <a:ext uri="{FF2B5EF4-FFF2-40B4-BE49-F238E27FC236}">
                      <a16:creationId xmlns:a16="http://schemas.microsoft.com/office/drawing/2014/main" id="{9EB03FE0-8893-4D0A-BD91-2A0536A1F7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559" t="1272" r="24737" b="55953"/>
                <a:stretch/>
              </p:blipFill>
              <p:spPr>
                <a:xfrm>
                  <a:off x="2826192" y="2952819"/>
                  <a:ext cx="6008124" cy="2708969"/>
                </a:xfrm>
                <a:prstGeom prst="rect">
                  <a:avLst/>
                </a:prstGeom>
                <a:ln w="127000" cap="sq">
                  <a:solidFill>
                    <a:srgbClr val="000000"/>
                  </a:solidFill>
                  <a:miter lim="800000"/>
                </a:ln>
                <a:effectLst>
                  <a:outerShdw blurRad="57150" dist="50800" dir="2700000" algn="tl" rotWithShape="0">
                    <a:srgbClr val="000000">
                      <a:alpha val="40000"/>
                    </a:srgbClr>
                  </a:outerShdw>
                </a:effectLst>
              </p:spPr>
            </p:pic>
          </p:grpSp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F290D0C4-070C-48C8-B82E-3B36486315A3}"/>
                  </a:ext>
                </a:extLst>
              </p:cNvPr>
              <p:cNvSpPr/>
              <p:nvPr/>
            </p:nvSpPr>
            <p:spPr>
              <a:xfrm>
                <a:off x="2307392" y="1087645"/>
                <a:ext cx="6894786" cy="475067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F7BEE30-9476-4BA9-9476-FFA146B42E1F}"/>
                  </a:ext>
                </a:extLst>
              </p:cNvPr>
              <p:cNvSpPr txBox="1"/>
              <p:nvPr/>
            </p:nvSpPr>
            <p:spPr>
              <a:xfrm>
                <a:off x="2675254" y="1146336"/>
                <a:ext cx="615906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ГРУППИРУЙТЕ ЗАДАЧИ ПО МЕТКАМ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Создавайте любые метки под свои проекты</a:t>
                </a: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Примеры: </a:t>
                </a:r>
                <a:r>
                  <a:rPr lang="en-US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 Fronted, Backend, Bug, Docs</a:t>
                </a:r>
                <a:endPara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endParaRPr>
              </a:p>
              <a:p>
                <a:pPr algn="ctr"/>
                <a:r>
                  <a:rPr lang="ru-RU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Monomakh Unicode" panose="02060703080006000000" pitchFamily="18" charset="0"/>
                    <a:ea typeface="Monomakh Unicode" panose="02060703080006000000" pitchFamily="18" charset="0"/>
                  </a:rPr>
                  <a:t>У каждой метки – имя, описания, дата создания</a:t>
                </a:r>
                <a:endParaRPr lang="ru-RU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endParaRPr>
              </a:p>
            </p:txBody>
          </p:sp>
          <p:pic>
            <p:nvPicPr>
              <p:cNvPr id="42" name="Рисунок 41">
                <a:extLst>
                  <a:ext uri="{FF2B5EF4-FFF2-40B4-BE49-F238E27FC236}">
                    <a16:creationId xmlns:a16="http://schemas.microsoft.com/office/drawing/2014/main" id="{03FFF7C3-1C14-4A72-A10F-8A96287D12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032" t="431" r="23774" b="57206"/>
              <a:stretch/>
            </p:blipFill>
            <p:spPr>
              <a:xfrm>
                <a:off x="2571251" y="2790825"/>
                <a:ext cx="6363578" cy="2814852"/>
              </a:xfrm>
              <a:prstGeom prst="rect">
                <a:avLst/>
              </a:prstGeom>
              <a:ln w="127000" cap="sq">
                <a:solidFill>
                  <a:srgbClr val="000000"/>
                </a:solidFill>
                <a:miter lim="800000"/>
              </a:ln>
              <a:effectLst>
                <a:outerShdw blurRad="57150" dist="508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950A2EC3-F8AC-4688-B312-CC7FE7530B83}"/>
                </a:ext>
              </a:extLst>
            </p:cNvPr>
            <p:cNvSpPr/>
            <p:nvPr/>
          </p:nvSpPr>
          <p:spPr>
            <a:xfrm>
              <a:off x="2267368" y="1051034"/>
              <a:ext cx="6894786" cy="47506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24A3AB-FF1D-4196-850D-C669CBCD4893}"/>
                </a:ext>
              </a:extLst>
            </p:cNvPr>
            <p:cNvSpPr txBox="1"/>
            <p:nvPr/>
          </p:nvSpPr>
          <p:spPr>
            <a:xfrm>
              <a:off x="2675254" y="1146336"/>
              <a:ext cx="6159062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КОНТРОЛИРУЙТЕ ЭТАПЫ РАБОТ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Статусы показывают, на каком этапе задача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Вы сами </a:t>
              </a:r>
              <a:r>
                <a:rPr lang="ru-RU" sz="20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создаёете</a:t>
              </a:r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, меняете и удаляете статусы</a:t>
              </a:r>
            </a:p>
            <a:p>
              <a:pPr algn="ctr"/>
              <a:r>
                <a:rPr lang="ru-RU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omakh Unicode" panose="02060703080006000000" pitchFamily="18" charset="0"/>
                  <a:ea typeface="Monomakh Unicode" panose="02060703080006000000" pitchFamily="18" charset="0"/>
                </a:rPr>
                <a:t>Никто не скажет «я не знал, что это срочно»</a:t>
              </a:r>
            </a:p>
          </p:txBody>
        </p:sp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15130F57-1978-45B2-9C21-2C4689995C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5" r="24621" b="59751"/>
            <a:stretch/>
          </p:blipFill>
          <p:spPr>
            <a:xfrm>
              <a:off x="2567122" y="2846028"/>
              <a:ext cx="6295278" cy="2674416"/>
            </a:xfrm>
            <a:prstGeom prst="rect">
              <a:avLst/>
            </a:prstGeom>
            <a:ln w="127000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493B09B-78D0-4983-A1A8-E1B214C8EF4D}"/>
              </a:ext>
            </a:extLst>
          </p:cNvPr>
          <p:cNvGrpSpPr/>
          <p:nvPr/>
        </p:nvGrpSpPr>
        <p:grpSpPr>
          <a:xfrm>
            <a:off x="-1269833" y="-1645001"/>
            <a:ext cx="14699519" cy="10147998"/>
            <a:chOff x="-1554268" y="-1606090"/>
            <a:chExt cx="14699519" cy="10147998"/>
          </a:xfrm>
        </p:grpSpPr>
        <p:sp>
          <p:nvSpPr>
            <p:cNvPr id="4" name="Овал 3">
              <a:extLst>
                <a:ext uri="{FF2B5EF4-FFF2-40B4-BE49-F238E27FC236}">
                  <a16:creationId xmlns:a16="http://schemas.microsoft.com/office/drawing/2014/main" id="{2FE86C0B-315E-4F4C-8370-74A1B4F4129E}"/>
                </a:ext>
              </a:extLst>
            </p:cNvPr>
            <p:cNvSpPr/>
            <p:nvPr/>
          </p:nvSpPr>
          <p:spPr>
            <a:xfrm>
              <a:off x="-1554268" y="-1606090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864DACE0-3A11-4045-910D-1838D04455F0}"/>
                </a:ext>
              </a:extLst>
            </p:cNvPr>
            <p:cNvSpPr/>
            <p:nvPr/>
          </p:nvSpPr>
          <p:spPr>
            <a:xfrm>
              <a:off x="-1388896" y="5991213"/>
              <a:ext cx="14534147" cy="2550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EE773599-3319-4891-9DA3-E7D36E26D865}"/>
              </a:ext>
            </a:extLst>
          </p:cNvPr>
          <p:cNvSpPr/>
          <p:nvPr/>
        </p:nvSpPr>
        <p:spPr>
          <a:xfrm>
            <a:off x="2267368" y="1051034"/>
            <a:ext cx="6894786" cy="475067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0B2EAB-A233-4318-9AD6-B3DE7659D021}"/>
              </a:ext>
            </a:extLst>
          </p:cNvPr>
          <p:cNvSpPr txBox="1"/>
          <p:nvPr/>
        </p:nvSpPr>
        <p:spPr>
          <a:xfrm>
            <a:off x="2542478" y="1146336"/>
            <a:ext cx="62918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БЕЗОПАСНЫЙ ВХОД ТОЛЬКО ДЛЯ СВОИХ</a:t>
            </a:r>
          </a:p>
          <a:p>
            <a:pPr algn="ctr"/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Регистрация по имени, 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email </a:t>
            </a:r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и паролю</a:t>
            </a:r>
          </a:p>
          <a:p>
            <a:pPr algn="ctr"/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Подтверждение пароля – защита от ошибок</a:t>
            </a:r>
          </a:p>
          <a:p>
            <a:pPr algn="ctr"/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Каждый сотрудник – под своей </a:t>
            </a:r>
            <a:r>
              <a:rPr lang="ru-RU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учёетной</a:t>
            </a:r>
            <a:r>
              <a:rPr lang="ru-RU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omakh Unicode" panose="02060703080006000000" pitchFamily="18" charset="0"/>
                <a:ea typeface="Monomakh Unicode" panose="02060703080006000000" pitchFamily="18" charset="0"/>
              </a:rPr>
              <a:t> записью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7CAC76-9503-4FFC-BF4B-EE51B929CF3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6" t="32966" r="28835" b="31330"/>
          <a:stretch/>
        </p:blipFill>
        <p:spPr>
          <a:xfrm>
            <a:off x="2771358" y="2824064"/>
            <a:ext cx="5671544" cy="262274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0607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1AA518-9F9E-4461-A34D-82DE5A3A565F}"/>
              </a:ext>
            </a:extLst>
          </p:cNvPr>
          <p:cNvSpPr/>
          <p:nvPr/>
        </p:nvSpPr>
        <p:spPr>
          <a:xfrm>
            <a:off x="10362" y="6904"/>
            <a:ext cx="12181638" cy="685109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1863A-B89E-4930-9521-8B32E0F2322E}"/>
              </a:ext>
            </a:extLst>
          </p:cNvPr>
          <p:cNvSpPr txBox="1"/>
          <p:nvPr/>
        </p:nvSpPr>
        <p:spPr>
          <a:xfrm>
            <a:off x="1011044" y="741832"/>
            <a:ext cx="101699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Monomakh Unicode" panose="02060703080006000000" pitchFamily="18" charset="0"/>
                <a:ea typeface="Monomakh Unicode" panose="02060703080006000000" pitchFamily="18" charset="0"/>
              </a:rPr>
              <a:t>ЧТО ВЫ ПОЛУЧАЕТЕ</a:t>
            </a:r>
            <a:r>
              <a:rPr lang="en-US" sz="4000" dirty="0">
                <a:latin typeface="Monomakh Unicode" panose="02060703080006000000" pitchFamily="18" charset="0"/>
                <a:ea typeface="Monomakh Unicode" panose="02060703080006000000" pitchFamily="18" charset="0"/>
              </a:rPr>
              <a:t>?</a:t>
            </a:r>
          </a:p>
          <a:p>
            <a:pPr algn="ctr"/>
            <a:endParaRPr lang="ru-RU" sz="4000" dirty="0">
              <a:latin typeface="Monomakh Unicode" panose="02060703080006000000" pitchFamily="18" charset="0"/>
              <a:ea typeface="Monomakh Unicode" panose="02060703080006000000" pitchFamily="18" charset="0"/>
            </a:endParaRP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3700594C-271E-4806-9080-DA7812037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559549"/>
              </p:ext>
            </p:extLst>
          </p:nvPr>
        </p:nvGraphicFramePr>
        <p:xfrm>
          <a:off x="1489926" y="1616487"/>
          <a:ext cx="9212148" cy="4366857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4606074">
                  <a:extLst>
                    <a:ext uri="{9D8B030D-6E8A-4147-A177-3AD203B41FA5}">
                      <a16:colId xmlns:a16="http://schemas.microsoft.com/office/drawing/2014/main" val="1832202004"/>
                    </a:ext>
                  </a:extLst>
                </a:gridCol>
                <a:gridCol w="4606074">
                  <a:extLst>
                    <a:ext uri="{9D8B030D-6E8A-4147-A177-3AD203B41FA5}">
                      <a16:colId xmlns:a16="http://schemas.microsoft.com/office/drawing/2014/main" val="780001070"/>
                    </a:ext>
                  </a:extLst>
                </a:gridCol>
              </a:tblGrid>
              <a:tr h="729475">
                <a:tc>
                  <a:txBody>
                    <a:bodyPr/>
                    <a:lstStyle/>
                    <a:p>
                      <a:r>
                        <a:rPr lang="ru-RU" dirty="0"/>
                        <a:t>возможность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Решаемая проблема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51304"/>
                  </a:ext>
                </a:extLst>
              </a:tr>
              <a:tr h="729475">
                <a:tc>
                  <a:txBody>
                    <a:bodyPr/>
                    <a:lstStyle/>
                    <a:p>
                      <a:r>
                        <a:rPr lang="ru-RU" dirty="0"/>
                        <a:t>Все </a:t>
                      </a:r>
                      <a:r>
                        <a:rPr lang="ru-RU" dirty="0" err="1"/>
                        <a:t>задачви</a:t>
                      </a:r>
                      <a:r>
                        <a:rPr lang="ru-RU" dirty="0"/>
                        <a:t> в таблице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Ничего не теряется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369646"/>
                  </a:ext>
                </a:extLst>
              </a:tr>
              <a:tr h="729475">
                <a:tc>
                  <a:txBody>
                    <a:bodyPr/>
                    <a:lstStyle/>
                    <a:p>
                      <a:r>
                        <a:rPr lang="ru-RU" dirty="0"/>
                        <a:t>Статусы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понятно., на каком этапе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082293"/>
                  </a:ext>
                </a:extLst>
              </a:tr>
              <a:tr h="729475">
                <a:tc>
                  <a:txBody>
                    <a:bodyPr/>
                    <a:lstStyle/>
                    <a:p>
                      <a:r>
                        <a:rPr lang="ru-RU" dirty="0"/>
                        <a:t>Метки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Быстрый поиск по темам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23069"/>
                  </a:ext>
                </a:extLst>
              </a:tr>
              <a:tr h="729475">
                <a:tc>
                  <a:txBody>
                    <a:bodyPr/>
                    <a:lstStyle/>
                    <a:p>
                      <a:r>
                        <a:rPr lang="ru-RU" dirty="0"/>
                        <a:t>Редактирование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Меняете задачу за 2 клика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280850"/>
                  </a:ext>
                </a:extLst>
              </a:tr>
              <a:tr h="719482">
                <a:tc>
                  <a:txBody>
                    <a:bodyPr/>
                    <a:lstStyle/>
                    <a:p>
                      <a:r>
                        <a:rPr lang="ru-RU" dirty="0"/>
                        <a:t>Регистрация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Доступ только для своих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956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997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125</TotalTime>
  <Words>1825</Words>
  <Application>Microsoft Office PowerPoint</Application>
  <PresentationFormat>Широкоэкранный</PresentationFormat>
  <Paragraphs>136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Helvetica</vt:lpstr>
      <vt:lpstr>Monomakh Unicode</vt:lpstr>
      <vt:lpstr>Wingdings</vt:lpstr>
      <vt:lpstr>След самолета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Master</cp:lastModifiedBy>
  <cp:revision>13</cp:revision>
  <dcterms:created xsi:type="dcterms:W3CDTF">2026-06-08T07:33:30Z</dcterms:created>
  <dcterms:modified xsi:type="dcterms:W3CDTF">2026-06-08T09:38:49Z</dcterms:modified>
</cp:coreProperties>
</file>